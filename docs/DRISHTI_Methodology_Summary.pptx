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bfc95eff-086d-4823-023f-5cf1d74d0bd7}">
          <p14:sldIdLst>
            <p14:sldId id="256"/>
          </p14:sldIdLst>
        </p14:section>
        <p14:section name="Data" id="{0aa0f126-6272-05d7-664f-1894b2453000}">
          <p14:sldIdLst>
            <p14:sldId id="257"/>
          </p14:sldIdLst>
        </p14:section>
        <p14:section name="Methodology" id="{23e16783-a5f1-61e7-bc17-2f86ef96e57b}">
          <p14:sldIdLst>
            <p14:sldId id="258"/>
            <p14:sldId id="259"/>
          </p14:sldIdLst>
        </p14:section>
        <p14:section name="Platform" id="{f84a6fb9-1a8d-ba5a-35b1-14f56b8521f6}">
          <p14:sldIdLst>
            <p14:sldId id="260"/>
          </p14:sldIdLst>
        </p14:section>
        <p14:section name="Contribution" id="{e256d807-aea4-829e-8caa-816a2cfa8802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method answers one optimisation question. The three percentages come from the grid data and define the adoption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datasets are in UTM 43N. 124 cells lie more than 500 m from any road and cannot be 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 demand, A accessibility, F feasibility and safety, G unserved market, E equity. Class factors: trunk 1.8, primary 1.4, secondary 1.15, tertiary 1.05, service 1.1, others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Trip potential is a planning estimate: population × 1.3 trips × 45 % short trips × 0.5 % adoption, scaled by demand. Robust hubs keep a hub within 1.5 km by road under all four weightings.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Pages: Home, About, Facilities (Planner with four sub-pages, User). One self-contained page; no server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steps: calibrate demand with operator trip logs, add one-way rules and point POIs, and pilot the robust hubs.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86200"/>
            <a:ext cx="87782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74320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8620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8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E-Micromobility Planner · Methodology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Delhi E-Micromobility Planner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86200"/>
            <a:ext cx="8778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data and contribution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31520" cy="731520"/>
          </a:xfrm>
          <a:prstGeom prst="ellipse">
            <a:avLst/>
          </a:prstGeom>
          <a:solidFill>
            <a:srgbClr val="0B7A6F"/>
          </a:solidFill>
          <a:ln w="12700">
            <a:solidFill>
              <a:srgbClr val="0B7A6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014" y="121249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PLANNING PROGRAMME · NCT DELHI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07492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</a:t>
            </a:r>
            <a:pPr indent="0" marL="0">
              <a:buNone/>
            </a:pPr>
            <a:r>
              <a:rPr lang="en-US" sz="16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a shared e-micromobility provider in Delhi locate hubs, battery-swap stations and riding corridors to capture the most safe, practical short-trip demand, when 96.5% of high-demand neighbourhoods have no shared e-bike service, 66% have no safety facility and 69% carry above-median traffic stress?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an analysis grid and the road network</a:t>
            </a:r>
            <a:endParaRPr lang="en-US" sz="3000" dirty="0"/>
          </a:p>
        </p:txBody>
      </p:sp>
      <p:pic>
        <p:nvPicPr>
          <p:cNvPr id="3" name="Image 0" descr="f_stu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31809"/>
            <a:ext cx="4206240" cy="4434461"/>
          </a:xfrm>
          <a:prstGeom prst="rect">
            <a:avLst/>
          </a:prstGeom>
        </p:spPr>
      </p:pic>
      <p:sp>
        <p:nvSpPr>
          <p:cNvPr id="4" name="d-Analysis grid"/>
          <p:cNvSpPr/>
          <p:nvPr/>
        </p:nvSpPr>
        <p:spPr>
          <a:xfrm>
            <a:off x="4892040" y="132588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120640" y="1554480"/>
            <a:ext cx="502920" cy="502920"/>
          </a:xfrm>
          <a:prstGeom prst="ellipse">
            <a:avLst/>
          </a:prstGeom>
          <a:solidFill>
            <a:srgbClr val="0B7A6F"/>
          </a:solidFill>
          <a:ln w="12700">
            <a:solidFill>
              <a:srgbClr val="0B7A6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282" y="1665122"/>
            <a:ext cx="281635" cy="28163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5727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grid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760720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8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CSV (corrected UMVI) + sri.gpkg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166360" y="237744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2,227 hexagons, 0.66 km² each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120 indicators per cell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Demand, access, safety, comfort, land use, OMAS, Yulu, socio-economic</a:t>
            </a:r>
            <a:endParaRPr lang="en-US" sz="1300" dirty="0"/>
          </a:p>
        </p:txBody>
      </p:sp>
      <p:sp>
        <p:nvSpPr>
          <p:cNvPr id="10" name="d-Road network"/>
          <p:cNvSpPr/>
          <p:nvPr/>
        </p:nvSpPr>
        <p:spPr>
          <a:xfrm>
            <a:off x="8458200" y="132588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686800" y="1554480"/>
            <a:ext cx="502920" cy="502920"/>
          </a:xfrm>
          <a:prstGeom prst="ellipse">
            <a:avLst/>
          </a:prstGeom>
          <a:solidFill>
            <a:srgbClr val="0B7A6F"/>
          </a:solidFill>
          <a:ln w="12700">
            <a:solidFill>
              <a:srgbClr val="0B7A6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7442" y="1665122"/>
            <a:ext cx="281635" cy="28163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326880" y="15727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network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9326880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8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sup.gpkg · OpenStreetMap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8732520" y="237744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149,135 ways, 8 road classes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23,269 km, 9.0% rated high-stress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distance and route uses it</a:t>
            </a:r>
            <a:endParaRPr lang="en-US" sz="1300" dirty="0"/>
          </a:p>
        </p:txBody>
      </p:sp>
      <p:sp>
        <p:nvSpPr>
          <p:cNvPr id="16" name="prep"/>
          <p:cNvSpPr/>
          <p:nvPr/>
        </p:nvSpPr>
        <p:spPr>
          <a:xfrm>
            <a:off x="4892040" y="3840480"/>
            <a:ext cx="6995160" cy="1325880"/>
          </a:xfrm>
          <a:prstGeom prst="roundRect">
            <a:avLst>
              <a:gd name="adj" fmla="val 5517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166360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5166360" y="425196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grid to geometry · percentile-rank inputs to 0–1 · split ways at shared OSM vertices · keep the largest connected network (99.6 %) · merge and simplify to 246,003 junctions and 345,601 segments · snap each cell centre to the road (median 61 m)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892040" y="5349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2,227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4892040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cells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647688" y="5349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19.8 M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6647688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403336" y="5349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23,269 km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8403336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road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10158984" y="5349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246,003</a:t>
            </a:r>
            <a:endParaRPr lang="en-US" sz="2200" dirty="0"/>
          </a:p>
        </p:txBody>
      </p:sp>
      <p:sp>
        <p:nvSpPr>
          <p:cNvPr id="26" name="Text 21"/>
          <p:cNvSpPr txBox="1"/>
          <p:nvPr/>
        </p:nvSpPr>
        <p:spPr>
          <a:xfrm>
            <a:off x="10158984" y="5806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nine steps in four stages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600" dirty="0"/>
          </a:p>
        </p:txBody>
      </p:sp>
      <p:sp>
        <p:nvSpPr>
          <p:cNvPr id="5" name="step-1"/>
          <p:cNvSpPr/>
          <p:nvPr/>
        </p:nvSpPr>
        <p:spPr>
          <a:xfrm>
            <a:off x="548640" y="20116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21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1214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problem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5059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quintiles vs supply, safety, stress</a:t>
            </a:r>
            <a:endParaRPr lang="en-US" sz="1150" dirty="0"/>
          </a:p>
        </p:txBody>
      </p:sp>
      <p:sp>
        <p:nvSpPr>
          <p:cNvPr id="9" name="step-2"/>
          <p:cNvSpPr/>
          <p:nvPr/>
        </p:nvSpPr>
        <p:spPr>
          <a:xfrm>
            <a:off x="548640" y="30632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172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1729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data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0215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Join, derive, rank, build road graph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82112" y="1463040"/>
            <a:ext cx="173736" cy="237744"/>
          </a:xfrm>
          <a:prstGeom prst="rightArrow">
            <a:avLst/>
          </a:prstGeom>
          <a:solidFill>
            <a:srgbClr val="9AA6B6"/>
          </a:solidFill>
          <a:ln w="12700">
            <a:solidFill>
              <a:srgbClr val="9AA6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32588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0" y="1325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screen</a:t>
            </a:r>
            <a:endParaRPr lang="en-US" sz="1600" dirty="0"/>
          </a:p>
        </p:txBody>
      </p:sp>
      <p:sp>
        <p:nvSpPr>
          <p:cNvPr id="16" name="step-3"/>
          <p:cNvSpPr/>
          <p:nvPr/>
        </p:nvSpPr>
        <p:spPr>
          <a:xfrm>
            <a:off x="3383280" y="20116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20440" y="2121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21214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Sub-indices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245059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D, A, F, stress, G, E, battery B</a:t>
            </a:r>
            <a:endParaRPr lang="en-US" sz="1150" dirty="0"/>
          </a:p>
        </p:txBody>
      </p:sp>
      <p:sp>
        <p:nvSpPr>
          <p:cNvPr id="20" name="step-4"/>
          <p:cNvSpPr/>
          <p:nvPr/>
        </p:nvSpPr>
        <p:spPr>
          <a:xfrm>
            <a:off x="3383280" y="30632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20440" y="3172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31729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sites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840480" y="350215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Built-up, roads, water, slope → 1,563 eligible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16752" y="1463040"/>
            <a:ext cx="173736" cy="237744"/>
          </a:xfrm>
          <a:prstGeom prst="rightArrow">
            <a:avLst/>
          </a:prstGeom>
          <a:solidFill>
            <a:srgbClr val="9AA6B6"/>
          </a:solidFill>
          <a:ln w="12700">
            <a:solidFill>
              <a:srgbClr val="9AA6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32588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B7A6F"/>
          </a:solidFill>
          <a:ln w="12700">
            <a:solidFill>
              <a:srgbClr val="0B7A6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0" y="1325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</a:t>
            </a:r>
            <a:endParaRPr lang="en-US" sz="1600" dirty="0"/>
          </a:p>
        </p:txBody>
      </p:sp>
      <p:sp>
        <p:nvSpPr>
          <p:cNvPr id="27" name="step-5"/>
          <p:cNvSpPr/>
          <p:nvPr/>
        </p:nvSpPr>
        <p:spPr>
          <a:xfrm>
            <a:off x="6217920" y="20116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55080" y="2121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21214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hubs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245059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MCLP, 1.5 km road coverage, HiGHS</a:t>
            </a:r>
            <a:endParaRPr lang="en-US" sz="1150" dirty="0"/>
          </a:p>
        </p:txBody>
      </p:sp>
      <p:sp>
        <p:nvSpPr>
          <p:cNvPr id="31" name="step-6"/>
          <p:cNvSpPr/>
          <p:nvPr/>
        </p:nvSpPr>
        <p:spPr>
          <a:xfrm>
            <a:off x="6217920" y="30632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55080" y="3172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675120" y="31729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stations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675120" y="350215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Capacitated p-median, ≤4 km, ≤400/day</a:t>
            </a:r>
            <a:endParaRPr lang="en-US" sz="1150" dirty="0"/>
          </a:p>
        </p:txBody>
      </p:sp>
      <p:sp>
        <p:nvSpPr>
          <p:cNvPr id="35" name="step-7"/>
          <p:cNvSpPr/>
          <p:nvPr/>
        </p:nvSpPr>
        <p:spPr>
          <a:xfrm>
            <a:off x="6217920" y="41148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55080" y="4224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0" y="42245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Corridors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675120" y="455371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least-cost paths between hubs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851392" y="1463040"/>
            <a:ext cx="173736" cy="237744"/>
          </a:xfrm>
          <a:prstGeom prst="rightArrow">
            <a:avLst/>
          </a:prstGeom>
          <a:solidFill>
            <a:srgbClr val="9AA6B6"/>
          </a:solidFill>
          <a:ln w="12700">
            <a:solidFill>
              <a:srgbClr val="9AA6B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52560" y="132588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052560" y="1325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600" dirty="0"/>
          </a:p>
        </p:txBody>
      </p:sp>
      <p:sp>
        <p:nvSpPr>
          <p:cNvPr id="42" name="step-8"/>
          <p:cNvSpPr/>
          <p:nvPr/>
        </p:nvSpPr>
        <p:spPr>
          <a:xfrm>
            <a:off x="9052560" y="20116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89720" y="2121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9509760" y="21214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&amp; battery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9509760" y="245059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→ bikes, swaps, kWh, van loops</a:t>
            </a:r>
            <a:endParaRPr lang="en-US" sz="1150" dirty="0"/>
          </a:p>
        </p:txBody>
      </p:sp>
      <p:sp>
        <p:nvSpPr>
          <p:cNvPr id="46" name="step-9"/>
          <p:cNvSpPr/>
          <p:nvPr/>
        </p:nvSpPr>
        <p:spPr>
          <a:xfrm>
            <a:off x="9052560" y="30632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189720" y="3172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9509760" y="31729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509760" y="350215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weightings → robust hubs</a:t>
            </a:r>
            <a:endParaRPr lang="en-US" sz="1150" dirty="0"/>
          </a:p>
        </p:txBody>
      </p:sp>
      <p:sp>
        <p:nvSpPr>
          <p:cNvPr id="50" name="eq"/>
          <p:cNvSpPr/>
          <p:nvPr/>
        </p:nvSpPr>
        <p:spPr>
          <a:xfrm>
            <a:off x="548640" y="525780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22960" y="525780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E3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Suitability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0.35D + 0.25A + 0.25F + 0.10G + 0.05E</a:t>
            </a:r>
            <a:pPr indent="0" marL="0">
              <a:buNone/>
            </a:pPr>
            <a:r>
              <a:rPr lang="en-US" sz="1600" b="1" dirty="0">
                <a:solidFill>
                  <a:srgbClr val="BFE3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E-bike route cost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 × (1 + 1.5·high-stress) × class factor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Optimisation models and results</a:t>
            </a:r>
            <a:endParaRPr lang="en-US" sz="3000" dirty="0"/>
          </a:p>
        </p:txBody>
      </p:sp>
      <p:pic>
        <p:nvPicPr>
          <p:cNvPr id="3" name="Image 0" descr="f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491" y="1188720"/>
            <a:ext cx="4813738" cy="5074920"/>
          </a:xfrm>
          <a:prstGeom prst="rect">
            <a:avLst/>
          </a:prstGeom>
        </p:spPr>
      </p:pic>
      <p:sp>
        <p:nvSpPr>
          <p:cNvPr id="4" name="mod-0"/>
          <p:cNvSpPr/>
          <p:nvPr/>
        </p:nvSpPr>
        <p:spPr>
          <a:xfrm>
            <a:off x="5577840" y="1325880"/>
            <a:ext cx="6080760" cy="1078992"/>
          </a:xfrm>
          <a:prstGeom prst="roundRect">
            <a:avLst>
              <a:gd name="adj" fmla="val 678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0644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siting (MCLP)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732520" y="14173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Σ wᵢyᵢ  s.t.  yᵢ ≤ Σⱼ∈Nᵢ xⱼ,  Σxⱼ = p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806440" y="1783080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Nᵢ = cells within 1.5 km by road. p = 148 at the knee of the coverage curve; exact 77.5% vs greedy 75.6%</a:t>
            </a:r>
            <a:endParaRPr lang="en-US" sz="1250" dirty="0"/>
          </a:p>
        </p:txBody>
      </p:sp>
      <p:sp>
        <p:nvSpPr>
          <p:cNvPr id="8" name="mod-1"/>
          <p:cNvSpPr/>
          <p:nvPr/>
        </p:nvSpPr>
        <p:spPr>
          <a:xfrm>
            <a:off x="5577840" y="2532888"/>
            <a:ext cx="6080760" cy="1078992"/>
          </a:xfrm>
          <a:prstGeom prst="roundRect">
            <a:avLst>
              <a:gd name="adj" fmla="val 678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06440" y="26243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stations (p-median)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6243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Σ swapsₕ × road distanceₕₛ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2990088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station per hub, ≤ 4 km, ≤ 400 swaps/day → 25 stations, mean 2.52 km</a:t>
            </a:r>
            <a:endParaRPr lang="en-US" sz="1250" dirty="0"/>
          </a:p>
        </p:txBody>
      </p:sp>
      <p:sp>
        <p:nvSpPr>
          <p:cNvPr id="12" name="mod-2"/>
          <p:cNvSpPr/>
          <p:nvPr/>
        </p:nvSpPr>
        <p:spPr>
          <a:xfrm>
            <a:off x="5577840" y="3739896"/>
            <a:ext cx="6080760" cy="1078992"/>
          </a:xfrm>
          <a:prstGeom prst="roundRect">
            <a:avLst>
              <a:gd name="adj" fmla="val 678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06440" y="38313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Corridors &amp; van loops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732520" y="383133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Dijkstra on calm cost; NN + 2-opt tours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806440" y="4197096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762 km of corridor, 5.9% high-stress; 430 van-km/day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5120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7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5577840" y="5623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803136" y="5120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68.4%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803136" y="5623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served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028432" y="5120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51,893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8028432" y="5623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trips/day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9253728" y="5120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4,281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9253728" y="5623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swaps/day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0479024" y="5120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142/148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10479024" y="5623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hubs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Platform: planner and user tools on one model</a:t>
            </a:r>
            <a:endParaRPr lang="en-US" sz="3000" dirty="0"/>
          </a:p>
        </p:txBody>
      </p:sp>
      <p:pic>
        <p:nvPicPr>
          <p:cNvPr id="3" name="Image 0" descr="c_s_roa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90472"/>
            <a:ext cx="6766560" cy="40599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6235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8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designer: calm route vs shortest route on the OSM network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589520" y="1325880"/>
            <a:ext cx="548640" cy="548640"/>
          </a:xfrm>
          <a:prstGeom prst="ellipse">
            <a:avLst/>
          </a:prstGeom>
          <a:solidFill>
            <a:srgbClr val="0B7A6F"/>
          </a:solidFill>
          <a:ln w="12700">
            <a:solidFill>
              <a:srgbClr val="0B7A6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221" y="1446581"/>
            <a:ext cx="307238" cy="3072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21040" y="13441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321040" y="173736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locations · road network &amp; routes · battery &amp; stations · roll-out &amp; KPIs; live re-optimisation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589520" y="2880360"/>
            <a:ext cx="548640" cy="548640"/>
          </a:xfrm>
          <a:prstGeom prst="ellipse">
            <a:avLst/>
          </a:prstGeom>
          <a:solidFill>
            <a:srgbClr val="0B7A6F"/>
          </a:solidFill>
          <a:ln w="12700">
            <a:solidFill>
              <a:srgbClr val="0B7A6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221" y="3001061"/>
            <a:ext cx="307238" cy="30723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321040" y="2898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32918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planner (walk–ride–walk, time, distance, fare) and nearest facilities by road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589520" y="4434840"/>
            <a:ext cx="548640" cy="548640"/>
          </a:xfrm>
          <a:prstGeom prst="ellipse">
            <a:avLst/>
          </a:prstGeom>
          <a:solidFill>
            <a:srgbClr val="0B7A6F"/>
          </a:solidFill>
          <a:ln w="12700">
            <a:solidFill>
              <a:srgbClr val="0B7A6F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0221" y="4555541"/>
            <a:ext cx="307238" cy="30723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321040" y="44531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8321040" y="48463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(GeoPandas, SciPy, PuLP + HiGHS) offline; browser runs Dijkstra/A* on a 3.3 MB compressed road graph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</a:t>
            </a:r>
            <a:endParaRPr lang="en-US" sz="3000" dirty="0"/>
          </a:p>
        </p:txBody>
      </p:sp>
      <p:sp>
        <p:nvSpPr>
          <p:cNvPr id="3" name="c-0"/>
          <p:cNvSpPr/>
          <p:nvPr/>
        </p:nvSpPr>
        <p:spPr>
          <a:xfrm>
            <a:off x="548640" y="13258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B7A6F"/>
          </a:solidFill>
          <a:ln w="12700">
            <a:solidFill>
              <a:srgbClr val="0B7A6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66512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adoption gap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94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grid into one evidence-backed research question: supply, safety and stress mismatched with demand</a:t>
            </a:r>
            <a:endParaRPr lang="en-US" sz="1250" dirty="0"/>
          </a:p>
        </p:txBody>
      </p:sp>
      <p:sp>
        <p:nvSpPr>
          <p:cNvPr id="8" name="c-1"/>
          <p:cNvSpPr/>
          <p:nvPr/>
        </p:nvSpPr>
        <p:spPr>
          <a:xfrm>
            <a:off x="4297680" y="13258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26280" y="1554480"/>
            <a:ext cx="502920" cy="502920"/>
          </a:xfrm>
          <a:prstGeom prst="ellipse">
            <a:avLst/>
          </a:prstGeom>
          <a:solidFill>
            <a:srgbClr val="0B7A6F"/>
          </a:solidFill>
          <a:ln w="12700">
            <a:solidFill>
              <a:srgbClr val="0B7A6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922" y="166512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6636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Road-network coverage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194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service zones, station distances and van loops measured on 23,269 km of real roads, not straight lines</a:t>
            </a:r>
            <a:endParaRPr lang="en-US" sz="1250" dirty="0"/>
          </a:p>
        </p:txBody>
      </p:sp>
      <p:sp>
        <p:nvSpPr>
          <p:cNvPr id="13" name="c-2"/>
          <p:cNvSpPr/>
          <p:nvPr/>
        </p:nvSpPr>
        <p:spPr>
          <a:xfrm>
            <a:off x="8046720" y="13258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75320" y="1554480"/>
            <a:ext cx="502920" cy="502920"/>
          </a:xfrm>
          <a:prstGeom prst="ellipse">
            <a:avLst/>
          </a:prstGeom>
          <a:solidFill>
            <a:srgbClr val="0B7A6F"/>
          </a:solidFill>
          <a:ln w="12700">
            <a:solidFill>
              <a:srgbClr val="0B7A6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962" y="166512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1540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logistics in the siting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2194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stations, charging load and battery pool planned together with the hubs</a:t>
            </a:r>
            <a:endParaRPr lang="en-US" sz="1250" dirty="0"/>
          </a:p>
        </p:txBody>
      </p:sp>
      <p:sp>
        <p:nvSpPr>
          <p:cNvPr id="18" name="c-3"/>
          <p:cNvSpPr/>
          <p:nvPr/>
        </p:nvSpPr>
        <p:spPr>
          <a:xfrm>
            <a:off x="548640" y="35661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3794760"/>
            <a:ext cx="502920" cy="502920"/>
          </a:xfrm>
          <a:prstGeom prst="ellipse">
            <a:avLst/>
          </a:prstGeom>
          <a:solidFill>
            <a:srgbClr val="0B7A6F"/>
          </a:solidFill>
          <a:ln w="12700">
            <a:solidFill>
              <a:srgbClr val="0B7A6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" y="3905402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Stress-aware routing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4348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corridors keep 94% of riding on low-stress roads for +6% distance, and rank protected-lane priorities</a:t>
            </a:r>
            <a:endParaRPr lang="en-US" sz="1250" dirty="0"/>
          </a:p>
        </p:txBody>
      </p:sp>
      <p:sp>
        <p:nvSpPr>
          <p:cNvPr id="23" name="c-4"/>
          <p:cNvSpPr/>
          <p:nvPr/>
        </p:nvSpPr>
        <p:spPr>
          <a:xfrm>
            <a:off x="4297680" y="35661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26280" y="3794760"/>
            <a:ext cx="502920" cy="502920"/>
          </a:xfrm>
          <a:prstGeom prst="ellipse">
            <a:avLst/>
          </a:prstGeom>
          <a:solidFill>
            <a:srgbClr val="0B7A6F"/>
          </a:solidFill>
          <a:ln w="12700">
            <a:solidFill>
              <a:srgbClr val="0B7A6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922" y="3905402"/>
            <a:ext cx="281635" cy="28163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16636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Robust, transparent plan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526280" y="44348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optimisation plus scenario testing: 142 of 148 hubs hold under every weighting</a:t>
            </a:r>
            <a:endParaRPr lang="en-US" sz="1250" dirty="0"/>
          </a:p>
        </p:txBody>
      </p:sp>
      <p:sp>
        <p:nvSpPr>
          <p:cNvPr id="28" name="c-5"/>
          <p:cNvSpPr/>
          <p:nvPr/>
        </p:nvSpPr>
        <p:spPr>
          <a:xfrm>
            <a:off x="8046720" y="35661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275320" y="3794760"/>
            <a:ext cx="502920" cy="502920"/>
          </a:xfrm>
          <a:prstGeom prst="ellipse">
            <a:avLst/>
          </a:prstGeom>
          <a:solidFill>
            <a:srgbClr val="0B7A6F"/>
          </a:solidFill>
          <a:ln w="12700">
            <a:solidFill>
              <a:srgbClr val="0B7A6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962" y="3905402"/>
            <a:ext cx="281635" cy="28163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91540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tool, two audiences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8275320" y="44348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Planners site and size the network; riders get route, time, fare and nearest facilities from the same model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8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trip potential is estimated, roads are routed both ways, POIs are per cell and fares are illustrative.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lhi Micromobility">
  <a:themeElements>
    <a:clrScheme name="Delhi Micromobility">
      <a:dk1>
        <a:srgbClr val="10233F"/>
      </a:dk1>
      <a:lt1>
        <a:srgbClr val="FFFFFF"/>
      </a:lt1>
      <a:dk2>
        <a:srgbClr val="44536A"/>
      </a:dk2>
      <a:lt2>
        <a:srgbClr val="EEF1F5"/>
      </a:lt2>
      <a:accent1>
        <a:srgbClr val="0B7A6F"/>
      </a:accent1>
      <a:accent2>
        <a:srgbClr val="EB6834"/>
      </a:accent2>
      <a:accent3>
        <a:srgbClr val="2A78D6"/>
      </a:accent3>
      <a:accent4>
        <a:srgbClr val="D55181"/>
      </a:accent4>
      <a:accent5>
        <a:srgbClr val="1BAF7A"/>
      </a:accent5>
      <a:accent6>
        <a:srgbClr val="D03B3B"/>
      </a:accent6>
      <a:hlink>
        <a:srgbClr val="0B7A6F"/>
      </a:hlink>
      <a:folHlink>
        <a:srgbClr val="44536A"/>
      </a:folHlink>
    </a:clrScheme>
    <a:fontScheme name="Delhi Micromobilit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Delhi E-Micromobility Planner: Methodology Summary</dc:title>
  <dc:subject>PptxGenJS Presentation</dc:subject>
  <dc:creator>Network Planning Programme</dc:creator>
  <cp:lastModifiedBy>Network Planning Programme</cp:lastModifiedBy>
  <cp:revision>1</cp:revision>
  <dcterms:created xsi:type="dcterms:W3CDTF">2026-10-10T18:36:47Z</dcterms:created>
  <dcterms:modified xsi:type="dcterms:W3CDTF">2026-10-10T18:36:47Z</dcterms:modified>
</cp:coreProperties>
</file>