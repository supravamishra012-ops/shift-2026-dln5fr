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0c1841-c643-2a3d-a0d5-0989be058387}">
          <p14:sldIdLst>
            <p14:sldId id="256"/>
            <p14:sldId id="257"/>
          </p14:sldIdLst>
        </p14:section>
        <p14:section name="Problem" id="{429d2843-647b-f8a4-24a1-266248f0f6aa}">
          <p14:sldIdLst>
            <p14:sldId id="258"/>
            <p14:sldId id="259"/>
          </p14:sldIdLst>
        </p14:section>
        <p14:section name="Data" id="{4dd3e9e0-8824-9261-2ce6-c7e8f0ec2ac9}">
          <p14:sldIdLst>
            <p14:sldId id="260"/>
            <p14:sldId id="261"/>
            <p14:sldId id="262"/>
            <p14:sldId id="263"/>
          </p14:sldIdLst>
        </p14:section>
        <p14:section name="Scoring" id="{8c90e0fe-63ca-9fe2-ed10-5ad06178867d}">
          <p14:sldIdLst>
            <p14:sldId id="264"/>
            <p14:sldId id="265"/>
            <p14:sldId id="266"/>
          </p14:sldIdLst>
        </p14:section>
        <p14:section name="Optimisation" id="{dd879100-1d5b-e07c-6722-0ed1e38adaa3}">
          <p14:sldIdLst>
            <p14:sldId id="267"/>
            <p14:sldId id="268"/>
            <p14:sldId id="269"/>
            <p14:sldId id="270"/>
            <p14:sldId id="271"/>
            <p14:sldId id="272"/>
            <p14:sldId id="273"/>
          </p14:sldIdLst>
        </p14:section>
        <p14:section name="Platform" id="{188c570b-43a8-4616-5784-97d56e08101e}">
          <p14:sldIdLst>
            <p14:sldId id="274"/>
            <p14:sldId id="275"/>
            <p14:sldId id="276"/>
            <p14:sldId id="277"/>
            <p14:sldId id="278"/>
            <p14:sldId id="279"/>
          </p14:sldIdLst>
        </p14:section>
        <p14:section name="Close" id="{57707773-0cc3-b232-2b12-ebae668c50e6}">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33F"/>
                </a:solidFill>
                <a:latin typeface="+mn-lt"/>
              </a:defRPr>
            </a:pPr>
            <a:r>
              <a:rPr sz="1300" b="0" i="0" u="none" strike="noStrike">
                <a:solidFill>
                  <a:srgbClr val="10233F"/>
                </a:solidFill>
                <a:latin typeface="+mn-lt"/>
              </a:rPr>
              <a:t>Share of cells, by demand quintile (Q5 = highest demand)</a:t>
            </a:r>
          </a:p>
        </c:rich>
      </c:tx>
      <c:layout/>
      <c:overlay val="0"/>
    </c:title>
    <c:autoTitleDeleted val="0"/>
    <c:plotArea>
      <c:layout/>
      <c:barChart>
        <c:barDir val="col"/>
        <c:grouping val="clustered"/>
        <c:varyColors val="0"/>
        <c:ser>
          <c:idx val="0"/>
          <c:order val="0"/>
          <c:tx>
            <c:strRef>
              <c:f>Sheet1!$B$1</c:f>
              <c:strCache>
                <c:ptCount val="1"/>
                <c:pt idx="0">
                  <c:v>No safety facility</c:v>
                </c:pt>
              </c:strCache>
            </c:strRef>
          </c:tx>
          <c:spPr>
            <a:solidFill>
              <a:srgbClr val="10233F"/>
            </a:solidFill>
            <a:effectLst/>
          </c:spPr>
          <c:invertIfNegative val="0"/>
          <c:dLbls>
            <c:numFmt formatCode="0&quot;%&quot;" sourceLinked="0"/>
            <c:txPr>
              <a:bodyPr/>
              <a:lstStyle/>
              <a:p>
                <a:pPr>
                  <a:defRPr b="0" i="0" strike="noStrike" sz="1100" u="none">
                    <a:solidFill>
                      <a:srgbClr val="44536A"/>
                    </a:solidFill>
                    <a:latin typeface="+mn-lt"/>
                  </a:defRPr>
                </a:pPr>
              </a:p>
            </c:txPr>
            <c:showLegendKey val="0"/>
            <c:showVal val="1"/>
            <c:showCatName val="0"/>
            <c:showSerName val="0"/>
            <c:showPercent val="0"/>
            <c:showBubbleSize val="0"/>
            <c:showLeaderLines val="0"/>
          </c:dLbls>
          <c:cat>
            <c:multiLvlStrRef>
              <c:f>Sheet1!$A$2:$A$6</c:f>
              <c:multiLvlStrCache>
                <c:ptCount val="5"/>
                <c:lvl>
                  <c:pt idx="0">
                    <c:v>Q1</c:v>
                  </c:pt>
                  <c:pt idx="1">
                    <c:v>Q2</c:v>
                  </c:pt>
                  <c:pt idx="2">
                    <c:v>Q3</c:v>
                  </c:pt>
                  <c:pt idx="3">
                    <c:v>Q4</c:v>
                  </c:pt>
                  <c:pt idx="4">
                    <c:v>Q5</c:v>
                  </c:pt>
                </c:lvl>
              </c:multiLvlStrCache>
            </c:multiLvlStrRef>
          </c:cat>
          <c:val>
            <c:numRef>
              <c:f>Sheet1!$B$2:$B$6</c:f>
              <c:numCache>
                <c:formatCode>General</c:formatCode>
                <c:ptCount val="5"/>
                <c:pt idx="0">
                  <c:v>99.1</c:v>
                </c:pt>
                <c:pt idx="1">
                  <c:v>93.9</c:v>
                </c:pt>
                <c:pt idx="2">
                  <c:v>84.3</c:v>
                </c:pt>
                <c:pt idx="3">
                  <c:v>67.2</c:v>
                </c:pt>
                <c:pt idx="4">
                  <c:v>60.3</c:v>
                </c:pt>
              </c:numCache>
            </c:numRef>
          </c:val>
        </c:ser>
        <c:ser>
          <c:idx val="1"/>
          <c:order val="1"/>
          <c:tx>
            <c:strRef>
              <c:f>Sheet1!$C$1</c:f>
              <c:strCache>
                <c:ptCount val="1"/>
                <c:pt idx="0">
                  <c:v>No non-motorised road</c:v>
                </c:pt>
              </c:strCache>
            </c:strRef>
          </c:tx>
          <c:spPr>
            <a:solidFill>
              <a:srgbClr val="0B7A6F"/>
            </a:solidFill>
            <a:effectLst/>
          </c:spPr>
          <c:invertIfNegative val="0"/>
          <c:dLbls>
            <c:numFmt formatCode="0&quot;%&quot;" sourceLinked="0"/>
            <c:txPr>
              <a:bodyPr/>
              <a:lstStyle/>
              <a:p>
                <a:pPr>
                  <a:defRPr b="0" i="0" strike="noStrike" sz="1100" u="none">
                    <a:solidFill>
                      <a:srgbClr val="44536A"/>
                    </a:solidFill>
                    <a:latin typeface="+mn-lt"/>
                  </a:defRPr>
                </a:pPr>
              </a:p>
            </c:txPr>
            <c:showLegendKey val="0"/>
            <c:showVal val="1"/>
            <c:showCatName val="0"/>
            <c:showSerName val="0"/>
            <c:showPercent val="0"/>
            <c:showBubbleSize val="0"/>
            <c:showLeaderLines val="0"/>
          </c:dLbls>
          <c:cat>
            <c:multiLvlStrRef>
              <c:f>Sheet1!$A$2:$A$6</c:f>
              <c:multiLvlStrCache>
                <c:ptCount val="5"/>
                <c:lvl>
                  <c:pt idx="0">
                    <c:v>Q1</c:v>
                  </c:pt>
                  <c:pt idx="1">
                    <c:v>Q2</c:v>
                  </c:pt>
                  <c:pt idx="2">
                    <c:v>Q3</c:v>
                  </c:pt>
                  <c:pt idx="3">
                    <c:v>Q4</c:v>
                  </c:pt>
                  <c:pt idx="4">
                    <c:v>Q5</c:v>
                  </c:pt>
                </c:lvl>
              </c:multiLvlStrCache>
            </c:multiLvlStrRef>
          </c:cat>
          <c:val>
            <c:numRef>
              <c:f>Sheet1!$C$2:$C$6</c:f>
              <c:numCache>
                <c:formatCode>General</c:formatCode>
                <c:ptCount val="5"/>
                <c:pt idx="0">
                  <c:v>95.5</c:v>
                </c:pt>
                <c:pt idx="1">
                  <c:v>81.6</c:v>
                </c:pt>
                <c:pt idx="2">
                  <c:v>66.7</c:v>
                </c:pt>
                <c:pt idx="3">
                  <c:v>47.4</c:v>
                </c:pt>
                <c:pt idx="4">
                  <c:v>35.2</c:v>
                </c:pt>
              </c:numCache>
            </c:numRef>
          </c:val>
        </c:ser>
        <c:dLbls>
          <c:numFmt formatCode="0&quot;%&quot;" sourceLinked="0"/>
          <c:txPr>
            <a:bodyPr/>
            <a:lstStyle/>
            <a:p>
              <a:pPr>
                <a:defRPr b="0" i="0" strike="noStrike" sz="1100" u="none">
                  <a:solidFill>
                    <a:srgbClr val="44536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36A"/>
                </a:solidFill>
                <a:latin typeface="+mn-lt"/>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53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33F"/>
                </a:solidFill>
                <a:latin typeface="+mn-lt"/>
              </a:defRPr>
            </a:pPr>
            <a:r>
              <a:rPr sz="1300" b="0" i="0" u="none" strike="noStrike">
                <a:solidFill>
                  <a:srgbClr val="10233F"/>
                </a:solidFill>
                <a:latin typeface="+mn-lt"/>
              </a:rPr>
              <a:t>Road length by class (km)</a:t>
            </a:r>
          </a:p>
        </c:rich>
      </c:tx>
      <c:layout/>
      <c:overlay val="0"/>
    </c:title>
    <c:autoTitleDeleted val="0"/>
    <c:plotArea>
      <c:layout/>
      <c:barChart>
        <c:barDir val="bar"/>
        <c:grouping val="clustered"/>
        <c:varyColors val="0"/>
        <c:ser>
          <c:idx val="0"/>
          <c:order val="0"/>
          <c:tx>
            <c:strRef>
              <c:f>Sheet1!$B$1</c:f>
              <c:strCache>
                <c:ptCount val="1"/>
                <c:pt idx="0">
                  <c:v>km</c:v>
                </c:pt>
              </c:strCache>
            </c:strRef>
          </c:tx>
          <c:spPr>
            <a:solidFill>
              <a:srgbClr val="0B7A6F"/>
            </a:solidFill>
            <a:effectLst/>
          </c:spPr>
          <c:invertIfNegative val="0"/>
          <c:dLbls>
            <c:numFmt formatCode="#,##0" sourceLinked="0"/>
            <c:txPr>
              <a:bodyPr/>
              <a:lstStyle/>
              <a:p>
                <a:pPr>
                  <a:defRPr b="0" i="0" strike="noStrike" sz="1100" u="none">
                    <a:solidFill>
                      <a:srgbClr val="44536A"/>
                    </a:solidFill>
                    <a:latin typeface="+mn-lt"/>
                  </a:defRPr>
                </a:pPr>
              </a:p>
            </c:txPr>
            <c:showLegendKey val="0"/>
            <c:showVal val="1"/>
            <c:showCatName val="0"/>
            <c:showSerName val="0"/>
            <c:showPercent val="0"/>
            <c:showBubbleSize val="0"/>
            <c:showLeaderLines val="0"/>
          </c:dLbls>
          <c:cat>
            <c:multiLvlStrRef>
              <c:f>Sheet1!$A$2:$A$9</c:f>
              <c:multiLvlStrCache>
                <c:ptCount val="8"/>
                <c:lvl>
                  <c:pt idx="0">
                    <c:v>Trunk</c:v>
                  </c:pt>
                  <c:pt idx="1">
                    <c:v>Primary</c:v>
                  </c:pt>
                  <c:pt idx="2">
                    <c:v>Secondary</c:v>
                  </c:pt>
                  <c:pt idx="3">
                    <c:v>Tertiary</c:v>
                  </c:pt>
                  <c:pt idx="4">
                    <c:v>Unclassified</c:v>
                  </c:pt>
                  <c:pt idx="5">
                    <c:v>Residential</c:v>
                  </c:pt>
                  <c:pt idx="6">
                    <c:v>Living street</c:v>
                  </c:pt>
                  <c:pt idx="7">
                    <c:v>Service</c:v>
                  </c:pt>
                </c:lvl>
              </c:multiLvlStrCache>
            </c:multiLvlStrRef>
          </c:cat>
          <c:val>
            <c:numRef>
              <c:f>Sheet1!$B$2:$B$9</c:f>
              <c:numCache>
                <c:formatCode>General</c:formatCode>
                <c:ptCount val="8"/>
                <c:pt idx="0">
                  <c:v>406</c:v>
                </c:pt>
                <c:pt idx="1">
                  <c:v>497</c:v>
                </c:pt>
                <c:pt idx="2">
                  <c:v>1182</c:v>
                </c:pt>
                <c:pt idx="3">
                  <c:v>2272</c:v>
                </c:pt>
                <c:pt idx="4">
                  <c:v>275</c:v>
                </c:pt>
                <c:pt idx="5">
                  <c:v>14694</c:v>
                </c:pt>
                <c:pt idx="6">
                  <c:v>543</c:v>
                </c:pt>
                <c:pt idx="7">
                  <c:v>3400</c:v>
                </c:pt>
              </c:numCache>
            </c:numRef>
          </c:val>
        </c:ser>
        <c:dLbls>
          <c:numFmt formatCode="#,##0" sourceLinked="0"/>
          <c:txPr>
            <a:bodyPr/>
            <a:lstStyle/>
            <a:p>
              <a:pPr>
                <a:defRPr b="0" i="0" strike="noStrike" sz="1100" u="none">
                  <a:solidFill>
                    <a:srgbClr val="44536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36A"/>
                </a:solidFill>
                <a:latin typeface="+mn-lt"/>
              </a:defRPr>
            </a:pPr>
            <a:endParaRPr lang="en-US"/>
          </a:p>
        </c:txPr>
        <c:crossAx val="2094734552"/>
        <c:crosses val="autoZero"/>
        <c:auto val="1"/>
        <c:lblAlgn val="ctr"/>
        <c:noMultiLvlLbl val="1"/>
      </c:catAx>
      <c:valAx>
        <c:axId val="2094734552"/>
        <c:scaling>
          <c:orientation val="minMax"/>
          <c:max val="18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33F"/>
                </a:solidFill>
                <a:latin typeface="+mn-lt"/>
              </a:defRPr>
            </a:pPr>
            <a:r>
              <a:rPr sz="1300" b="0" i="0" u="none" strike="noStrike">
                <a:solidFill>
                  <a:srgbClr val="10233F"/>
                </a:solidFill>
                <a:latin typeface="+mn-lt"/>
              </a:rPr>
              <a:t>Coverage curve: 148 hubs cover 77.5%</a:t>
            </a:r>
          </a:p>
        </c:rich>
      </c:tx>
      <c:layout/>
      <c:overlay val="0"/>
    </c:title>
    <c:autoTitleDeleted val="0"/>
    <c:plotArea>
      <c:layout/>
      <c:lineChart>
        <c:varyColors val="0"/>
        <c:ser>
          <c:idx val="0"/>
          <c:order val="0"/>
          <c:tx>
            <c:strRef>
              <c:f>Sheet1!$B$1</c:f>
              <c:strCache>
                <c:ptCount val="1"/>
                <c:pt idx="0">
                  <c:v>Weighted demand covered</c:v>
                </c:pt>
              </c:strCache>
            </c:strRef>
          </c:tx>
          <c:spPr>
            <a:solidFill>
              <a:srgbClr val="0B7A6F"/>
            </a:solidFill>
            <a:ln w="31750" cap="flat">
              <a:solidFill>
                <a:srgbClr val="0B7A6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6F"/>
              </a:solidFill>
              <a:ln w="9525" cap="flat">
                <a:solidFill>
                  <a:srgbClr val="0B7A6F"/>
                </a:solidFill>
                <a:prstDash val="solid"/>
                <a:round/>
              </a:ln>
              <a:effectLst/>
            </c:spPr>
          </c:marker>
          <c:cat>
            <c:multiLvlStrRef>
              <c:f>Sheet1!$A$2:$A$27</c:f>
              <c:multiLvlStrCache>
                <c:ptCount val="26"/>
                <c:lvl>
                  <c:pt idx="0">
                    <c:v>1</c:v>
                  </c:pt>
                  <c:pt idx="1">
                    <c:v>11</c:v>
                  </c:pt>
                  <c:pt idx="2">
                    <c:v>21</c:v>
                  </c:pt>
                  <c:pt idx="3">
                    <c:v>31</c:v>
                  </c:pt>
                  <c:pt idx="4">
                    <c:v>41</c:v>
                  </c:pt>
                  <c:pt idx="5">
                    <c:v>51</c:v>
                  </c:pt>
                  <c:pt idx="6">
                    <c:v>61</c:v>
                  </c:pt>
                  <c:pt idx="7">
                    <c:v>71</c:v>
                  </c:pt>
                  <c:pt idx="8">
                    <c:v>81</c:v>
                  </c:pt>
                  <c:pt idx="9">
                    <c:v>91</c:v>
                  </c:pt>
                  <c:pt idx="10">
                    <c:v>101</c:v>
                  </c:pt>
                  <c:pt idx="11">
                    <c:v>111</c:v>
                  </c:pt>
                  <c:pt idx="12">
                    <c:v>121</c:v>
                  </c:pt>
                  <c:pt idx="13">
                    <c:v>131</c:v>
                  </c:pt>
                  <c:pt idx="14">
                    <c:v>141</c:v>
                  </c:pt>
                  <c:pt idx="15">
                    <c:v>151</c:v>
                  </c:pt>
                  <c:pt idx="16">
                    <c:v>161</c:v>
                  </c:pt>
                  <c:pt idx="17">
                    <c:v>171</c:v>
                  </c:pt>
                  <c:pt idx="18">
                    <c:v>181</c:v>
                  </c:pt>
                  <c:pt idx="19">
                    <c:v>191</c:v>
                  </c:pt>
                  <c:pt idx="20">
                    <c:v>201</c:v>
                  </c:pt>
                  <c:pt idx="21">
                    <c:v>211</c:v>
                  </c:pt>
                  <c:pt idx="22">
                    <c:v>221</c:v>
                  </c:pt>
                  <c:pt idx="23">
                    <c:v>231</c:v>
                  </c:pt>
                  <c:pt idx="24">
                    <c:v>241</c:v>
                  </c:pt>
                  <c:pt idx="25">
                    <c:v>251</c:v>
                  </c:pt>
                </c:lvl>
              </c:multiLvlStrCache>
            </c:multiLvlStrRef>
          </c:cat>
          <c:val>
            <c:numRef>
              <c:f>Sheet1!$B$2:$B$27</c:f>
              <c:numCache>
                <c:formatCode>General</c:formatCode>
                <c:ptCount val="26"/>
                <c:pt idx="0">
                  <c:v>2.1</c:v>
                </c:pt>
                <c:pt idx="1">
                  <c:v>14.5</c:v>
                </c:pt>
                <c:pt idx="2">
                  <c:v>23.8</c:v>
                </c:pt>
                <c:pt idx="3">
                  <c:v>31.4</c:v>
                </c:pt>
                <c:pt idx="4">
                  <c:v>38.2</c:v>
                </c:pt>
                <c:pt idx="5">
                  <c:v>44.1</c:v>
                </c:pt>
                <c:pt idx="6">
                  <c:v>49.3</c:v>
                </c:pt>
                <c:pt idx="7">
                  <c:v>54</c:v>
                </c:pt>
                <c:pt idx="8">
                  <c:v>57.9</c:v>
                </c:pt>
                <c:pt idx="9">
                  <c:v>61.3</c:v>
                </c:pt>
                <c:pt idx="10">
                  <c:v>64.3</c:v>
                </c:pt>
                <c:pt idx="11">
                  <c:v>67.1</c:v>
                </c:pt>
                <c:pt idx="12">
                  <c:v>69.7</c:v>
                </c:pt>
                <c:pt idx="13">
                  <c:v>72</c:v>
                </c:pt>
                <c:pt idx="14">
                  <c:v>74.2</c:v>
                </c:pt>
                <c:pt idx="15">
                  <c:v>76.2</c:v>
                </c:pt>
                <c:pt idx="16">
                  <c:v>78</c:v>
                </c:pt>
                <c:pt idx="17">
                  <c:v>79.6</c:v>
                </c:pt>
                <c:pt idx="18">
                  <c:v>81</c:v>
                </c:pt>
                <c:pt idx="19">
                  <c:v>82.4</c:v>
                </c:pt>
                <c:pt idx="20">
                  <c:v>83.6</c:v>
                </c:pt>
                <c:pt idx="21">
                  <c:v>84.8</c:v>
                </c:pt>
                <c:pt idx="22">
                  <c:v>85.8</c:v>
                </c:pt>
                <c:pt idx="23">
                  <c:v>86.8</c:v>
                </c:pt>
                <c:pt idx="24">
                  <c:v>87.7</c:v>
                </c:pt>
                <c:pt idx="25">
                  <c:v>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4536A"/>
                    </a:solidFill>
                    <a:latin typeface="Arial"/>
                  </a:defRPr>
                </a:pPr>
                <a:r>
                  <a:rPr sz="1100" b="0" i="0" u="none" strike="noStrike">
                    <a:solidFill>
                      <a:srgbClr val="44536A"/>
                    </a:solidFill>
                    <a:latin typeface="Arial"/>
                  </a:rPr>
                  <a:t>Number of hubs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36A"/>
                </a:solidFill>
                <a:latin typeface="+mn-lt"/>
              </a:defRPr>
            </a:pPr>
            <a:endParaRPr lang="en-US"/>
          </a:p>
        </c:txPr>
        <c:crossAx val="2094734552"/>
        <c:crosses val="autoZero"/>
        <c:auto val="1"/>
        <c:lblAlgn val="ctr"/>
        <c:noMultiLvlLbl val="1"/>
        <c:tickLblSkip val="5"/>
      </c:catAx>
      <c:valAx>
        <c:axId val="2094734552"/>
        <c:scaling>
          <c:orientation val="minMax"/>
          <c:max val="100"/>
          <c:min val="0"/>
        </c:scaling>
        <c:delete val="0"/>
        <c:axPos val="l"/>
        <c:majorGridlines>
          <c:spPr>
            <a:ln w="6350" cap="flat">
              <a:solidFill>
                <a:srgbClr val="E3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3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Delhi E-Micromobility Planner was built: the data it uses, every processing and optimisation step, and how the web platform turns the results into tools for planners and riders.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core of the methodology is in Data, Scoring and Optimisation; the Platform section shows how the outputs are served to planners and riders.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latent short-trip demand sits in dense, high-stress neighbourhoods that lack shared service, safe riding space and battery infrastructure. Yulu zones cover only 37 of 2227 cells. The question is framed as one optimisation question that the rest of the method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Cells are split into five equal groups by the CLEDS e-bike demand score. The share of cells without a safety facility or non-motorised road falls with demand, but stays high, and traffic stress increases with demand. Existing shared supply is almost absent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carries the scoring indicators; the road network carries all distances and routes. Both are in UTM zone 43N, so distances are in metres without reprojection.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High-stress roads (red) form the arterial skeleton. Residential streets dominate by length, which is why calm routes are usually available at a small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1–3 prepare the grid; 4–7 turn the OSM ways into a graph where every junction is a node and every road segment an edge with length, class and stress. Snapping links the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0.40 CLEDS + 0.25 population + 0.20 POI count + 0.15 night lights. Accessibility: 0.30 FAI + 0.30 POIs within 10 min by e-bike + 0.20 intersection density + 0.20 POI diversity. Feasibility: low-stress share, flatness, NMR infrastructure, safety points, sidewalks, trees, low heavy traffic. Traffic stress is the inverse of calm-road indicators. Unserved market: low OMAS and no Yulu zone. Equity: inverse socio-economic index. Battery feasibility: built-up share, night lights, warehouses and roads, infrastructure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demand, A accessibility, F feasibility and safety, G unserved market, E equity. Screens are applied only to candidate hub sites; every cell still counts as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straight-line 1 km radius of the first version. Cells farther than 1.5 km from any road are left unserved.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MCLP picks p hub cells to maximise suitability-weighted trip potential within each hub service zone. The curve is from the greedy method; the exact solve at p=148 is shown in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potential = population × 1.3 trips × 45% short trips × 0.5% adoption, scaled by demand score. It is a planning estimate, not observed ridership.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Battery pool: 1.5 packs per bike is the rule of thumb; sizing from station stock gives a leaner pool. All parameters can be changed live in the Planner &gt; Battery &amp; stations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cost function runs in the browser for the route designer and the rider journey planner, with a slider that scales the stress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scenario is re-solved exactly. Robustness is judged at the neighbourhood level, not the exact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offline optimisation from live routing keeps the page fast: the exact MCLP and p-median solves take minutes, while a single route in the browser takes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Navigation mirrors the two audiences: planners (service providers, city agencies) and users (riders).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Planner tabs follow the same pattern: map on the left, console on the right, tables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Speeds: walking 4.5 km/h, e-bike 15 km/h by default. Tariffs are illustrative and editable in the Fares &amp; speed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dense areas most facilities are within walking distance; the e-bike column fills in for larger clusters further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change the structure of the method; each can be improved by swapping in better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actions: calibration, network refinement and a phased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23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7782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886200"/>
            <a:ext cx="8778240" cy="1097280"/>
          </a:xfrm>
          <a:prstGeom prst="rect">
            <a:avLst/>
          </a:prstGeom>
          <a:noFill/>
          <a:ln/>
        </p:spPr>
        <p:txBody>
          <a:bodyPr wrap="square" rtlCol="0"/>
          <a:lstStyle>
            <a:lvl1pPr indent="0" marL="0">
              <a:buNone/>
              <a:defRPr lang="en-US" sz="1800" dirty="0">
                <a:solidFill>
                  <a:srgbClr val="C9D2DC"/>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023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5156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886200"/>
            <a:ext cx="9601200" cy="1097280"/>
          </a:xfrm>
          <a:prstGeom prst="rect">
            <a:avLst/>
          </a:prstGeom>
          <a:noFill/>
          <a:ln/>
        </p:spPr>
        <p:txBody>
          <a:bodyPr wrap="square" rtlCol="0"/>
          <a:lstStyle>
            <a:lvl1pPr indent="0" marL="0">
              <a:buNone/>
              <a:defRPr lang="en-US" sz="1800" dirty="0">
                <a:solidFill>
                  <a:srgbClr val="C9D2DC"/>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82512"/>
            <a:ext cx="5486400" cy="274320"/>
          </a:xfrm>
          <a:prstGeom prst="rect">
            <a:avLst/>
          </a:prstGeom>
          <a:noFill/>
          <a:ln/>
        </p:spPr>
        <p:txBody>
          <a:bodyPr wrap="square" rtlCol="0" anchor="ctr"/>
          <a:lstStyle/>
          <a:p>
            <a:pPr indent="0" marL="0">
              <a:buNone/>
            </a:pPr>
            <a:r>
              <a:rPr lang="en-US" sz="1000" dirty="0">
                <a:solidFill>
                  <a:srgbClr val="6B788B"/>
                </a:solidFill>
                <a:latin typeface="Calibri" pitchFamily="34" charset="0"/>
                <a:ea typeface="Calibri" pitchFamily="34" charset="-122"/>
                <a:cs typeface="Calibri" pitchFamily="34" charset="-120"/>
              </a:rPr>
              <a:t>Delhi E-Micromobility Planner · Methodology</a:t>
            </a:r>
            <a:endParaRPr lang="en-US" sz="10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7-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778240" cy="173736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Delhi E-Micromobility Planner</a:t>
            </a:r>
            <a:endParaRPr lang="en-US" sz="4400" dirty="0"/>
          </a:p>
        </p:txBody>
      </p:sp>
      <p:sp>
        <p:nvSpPr>
          <p:cNvPr id="3" name="Text 0"/>
          <p:cNvSpPr/>
          <p:nvPr>
            <p:ph idx="101" type="body" hasCustomPrompt="1"/>
          </p:nvPr>
        </p:nvSpPr>
        <p:spPr>
          <a:xfrm>
            <a:off x="640080" y="3886200"/>
            <a:ext cx="877824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Methodology: the data, the models and how the platform was built</a:t>
            </a:r>
            <a:endParaRPr lang="en-US" sz="1800" dirty="0"/>
          </a:p>
        </p:txBody>
      </p:sp>
      <p:sp>
        <p:nvSpPr>
          <p:cNvPr id="4" name="Shape 2"/>
          <p:cNvSpPr/>
          <p:nvPr/>
        </p:nvSpPr>
        <p:spPr>
          <a:xfrm>
            <a:off x="640080" y="1051560"/>
            <a:ext cx="731520" cy="731520"/>
          </a:xfrm>
          <a:prstGeom prst="ellipse">
            <a:avLst/>
          </a:prstGeom>
          <a:solidFill>
            <a:srgbClr val="0B7A6F"/>
          </a:solidFill>
          <a:ln w="12700">
            <a:solidFill>
              <a:srgbClr val="0B7A6F"/>
            </a:solidFill>
            <a:prstDash val="solid"/>
          </a:ln>
        </p:spPr>
      </p:sp>
      <p:pic>
        <p:nvPicPr>
          <p:cNvPr id="5" name="Image 0" descr="preencoded.png">    </p:cNvPr>
          <p:cNvPicPr>
            <a:picLocks noChangeAspect="1"/>
          </p:cNvPicPr>
          <p:nvPr/>
        </p:nvPicPr>
        <p:blipFill>
          <a:blip r:embed="rId1"/>
          <a:stretch>
            <a:fillRect/>
          </a:stretch>
        </p:blipFill>
        <p:spPr>
          <a:xfrm>
            <a:off x="801014" y="1212494"/>
            <a:ext cx="409651" cy="409651"/>
          </a:xfrm>
          <a:prstGeom prst="rect">
            <a:avLst/>
          </a:prstGeom>
        </p:spPr>
      </p:pic>
      <p:sp>
        <p:nvSpPr>
          <p:cNvPr id="6" name="Text 3"/>
          <p:cNvSpPr txBox="1"/>
          <p:nvPr/>
        </p:nvSpPr>
        <p:spPr>
          <a:xfrm>
            <a:off x="1554480" y="1234440"/>
            <a:ext cx="7315200" cy="365760"/>
          </a:xfrm>
          <a:prstGeom prst="rect">
            <a:avLst/>
          </a:prstGeom>
          <a:noFill/>
          <a:ln/>
        </p:spPr>
        <p:txBody>
          <a:bodyPr wrap="square" lIns="0" tIns="0" rIns="0" bIns="0" rtlCol="0" anchor="t"/>
          <a:lstStyle/>
          <a:p>
            <a:pPr indent="0" marL="0">
              <a:buNone/>
            </a:pPr>
            <a:r>
              <a:rPr lang="en-US" sz="1300" b="1" spc="300" kern="0" dirty="0">
                <a:solidFill>
                  <a:srgbClr val="9FB0C7"/>
                </a:solidFill>
                <a:latin typeface="Calibri" pitchFamily="34" charset="0"/>
                <a:ea typeface="Calibri" pitchFamily="34" charset="-122"/>
                <a:cs typeface="Calibri" pitchFamily="34" charset="-120"/>
              </a:rPr>
              <a:t>NETWORK PLANNING PROGRAMME · NCT DELHI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this deck covers</a:t>
            </a:r>
            <a:endParaRPr lang="en-US" sz="3000" dirty="0"/>
          </a:p>
        </p:txBody>
      </p:sp>
      <p:sp>
        <p:nvSpPr>
          <p:cNvPr id="3" name="agenda-0"/>
          <p:cNvSpPr/>
          <p:nvPr/>
        </p:nvSpPr>
        <p:spPr>
          <a:xfrm>
            <a:off x="548640" y="1463040"/>
            <a:ext cx="3474720" cy="2103120"/>
          </a:xfrm>
          <a:prstGeom prst="roundRect">
            <a:avLst>
              <a:gd name="adj" fmla="val 3478"/>
            </a:avLst>
          </a:prstGeom>
          <a:solidFill>
            <a:srgbClr val="EEF1F5"/>
          </a:solidFill>
          <a:ln w="12700">
            <a:solidFill>
              <a:srgbClr val="EEF1F5"/>
            </a:solidFill>
            <a:prstDash val="solid"/>
          </a:ln>
        </p:spPr>
      </p:sp>
      <p:sp>
        <p:nvSpPr>
          <p:cNvPr id="4" name="Shape 2"/>
          <p:cNvSpPr/>
          <p:nvPr/>
        </p:nvSpPr>
        <p:spPr>
          <a:xfrm>
            <a:off x="822960" y="1737360"/>
            <a:ext cx="594360" cy="594360"/>
          </a:xfrm>
          <a:prstGeom prst="ellipse">
            <a:avLst/>
          </a:prstGeom>
          <a:solidFill>
            <a:srgbClr val="0B7A6F"/>
          </a:solidFill>
          <a:ln w="12700">
            <a:solidFill>
              <a:srgbClr val="0B7A6F"/>
            </a:solidFill>
            <a:prstDash val="solid"/>
          </a:ln>
        </p:spPr>
      </p:sp>
      <p:pic>
        <p:nvPicPr>
          <p:cNvPr id="5" name="Image 0" descr="preencoded.png">    </p:cNvPr>
          <p:cNvPicPr>
            <a:picLocks noChangeAspect="1"/>
          </p:cNvPicPr>
          <p:nvPr/>
        </p:nvPicPr>
        <p:blipFill>
          <a:blip r:embed="rId1"/>
          <a:stretch>
            <a:fillRect/>
          </a:stretch>
        </p:blipFill>
        <p:spPr>
          <a:xfrm>
            <a:off x="953719" y="1868119"/>
            <a:ext cx="332842" cy="332842"/>
          </a:xfrm>
          <a:prstGeom prst="rect">
            <a:avLst/>
          </a:prstGeom>
        </p:spPr>
      </p:pic>
      <p:sp>
        <p:nvSpPr>
          <p:cNvPr id="6" name="Text 3"/>
          <p:cNvSpPr txBox="1"/>
          <p:nvPr/>
        </p:nvSpPr>
        <p:spPr>
          <a:xfrm>
            <a:off x="3200400" y="175564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01</a:t>
            </a:r>
            <a:endParaRPr lang="en-US" sz="1400" dirty="0"/>
          </a:p>
        </p:txBody>
      </p:sp>
      <p:sp>
        <p:nvSpPr>
          <p:cNvPr id="7" name="Text 4"/>
          <p:cNvSpPr txBox="1"/>
          <p:nvPr/>
        </p:nvSpPr>
        <p:spPr>
          <a:xfrm>
            <a:off x="822960" y="246888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Problem</a:t>
            </a:r>
            <a:endParaRPr lang="en-US" sz="2000" dirty="0"/>
          </a:p>
        </p:txBody>
      </p:sp>
      <p:sp>
        <p:nvSpPr>
          <p:cNvPr id="8" name="Text 5"/>
          <p:cNvSpPr txBox="1"/>
          <p:nvPr/>
        </p:nvSpPr>
        <p:spPr>
          <a:xfrm>
            <a:off x="822960" y="288036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adoption gap and the single research question</a:t>
            </a:r>
            <a:endParaRPr lang="en-US" sz="1400" dirty="0"/>
          </a:p>
        </p:txBody>
      </p:sp>
      <p:sp>
        <p:nvSpPr>
          <p:cNvPr id="9" name="agenda-1"/>
          <p:cNvSpPr/>
          <p:nvPr/>
        </p:nvSpPr>
        <p:spPr>
          <a:xfrm>
            <a:off x="4297680" y="1463040"/>
            <a:ext cx="3474720" cy="2103120"/>
          </a:xfrm>
          <a:prstGeom prst="roundRect">
            <a:avLst>
              <a:gd name="adj" fmla="val 3478"/>
            </a:avLst>
          </a:prstGeom>
          <a:solidFill>
            <a:srgbClr val="EEF1F5"/>
          </a:solidFill>
          <a:ln w="12700">
            <a:solidFill>
              <a:srgbClr val="EEF1F5"/>
            </a:solidFill>
            <a:prstDash val="solid"/>
          </a:ln>
        </p:spPr>
      </p:sp>
      <p:sp>
        <p:nvSpPr>
          <p:cNvPr id="10" name="Shape 7"/>
          <p:cNvSpPr/>
          <p:nvPr/>
        </p:nvSpPr>
        <p:spPr>
          <a:xfrm>
            <a:off x="4572000" y="1737360"/>
            <a:ext cx="594360" cy="594360"/>
          </a:xfrm>
          <a:prstGeom prst="ellipse">
            <a:avLst/>
          </a:prstGeom>
          <a:solidFill>
            <a:srgbClr val="0B7A6F"/>
          </a:solidFill>
          <a:ln w="12700">
            <a:solidFill>
              <a:srgbClr val="0B7A6F"/>
            </a:solidFill>
            <a:prstDash val="solid"/>
          </a:ln>
        </p:spPr>
      </p:sp>
      <p:pic>
        <p:nvPicPr>
          <p:cNvPr id="11" name="Image 1" descr="preencoded.png">    </p:cNvPr>
          <p:cNvPicPr>
            <a:picLocks noChangeAspect="1"/>
          </p:cNvPicPr>
          <p:nvPr/>
        </p:nvPicPr>
        <p:blipFill>
          <a:blip r:embed="rId2"/>
          <a:stretch>
            <a:fillRect/>
          </a:stretch>
        </p:blipFill>
        <p:spPr>
          <a:xfrm>
            <a:off x="4702759" y="1868119"/>
            <a:ext cx="332842" cy="332842"/>
          </a:xfrm>
          <a:prstGeom prst="rect">
            <a:avLst/>
          </a:prstGeom>
        </p:spPr>
      </p:pic>
      <p:sp>
        <p:nvSpPr>
          <p:cNvPr id="12" name="Text 8"/>
          <p:cNvSpPr txBox="1"/>
          <p:nvPr/>
        </p:nvSpPr>
        <p:spPr>
          <a:xfrm>
            <a:off x="6949440" y="175564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02</a:t>
            </a:r>
            <a:endParaRPr lang="en-US" sz="1400" dirty="0"/>
          </a:p>
        </p:txBody>
      </p:sp>
      <p:sp>
        <p:nvSpPr>
          <p:cNvPr id="13" name="Text 9"/>
          <p:cNvSpPr txBox="1"/>
          <p:nvPr/>
        </p:nvSpPr>
        <p:spPr>
          <a:xfrm>
            <a:off x="4572000" y="246888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Data</a:t>
            </a:r>
            <a:endParaRPr lang="en-US" sz="2000" dirty="0"/>
          </a:p>
        </p:txBody>
      </p:sp>
      <p:sp>
        <p:nvSpPr>
          <p:cNvPr id="14" name="Text 10"/>
          <p:cNvSpPr txBox="1"/>
          <p:nvPr/>
        </p:nvSpPr>
        <p:spPr>
          <a:xfrm>
            <a:off x="4572000" y="288036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Analysis grid and OSM road network, and how they were prepared</a:t>
            </a:r>
            <a:endParaRPr lang="en-US" sz="1400" dirty="0"/>
          </a:p>
        </p:txBody>
      </p:sp>
      <p:sp>
        <p:nvSpPr>
          <p:cNvPr id="15" name="agenda-2"/>
          <p:cNvSpPr/>
          <p:nvPr/>
        </p:nvSpPr>
        <p:spPr>
          <a:xfrm>
            <a:off x="8046720" y="1463040"/>
            <a:ext cx="3474720" cy="2103120"/>
          </a:xfrm>
          <a:prstGeom prst="roundRect">
            <a:avLst>
              <a:gd name="adj" fmla="val 3478"/>
            </a:avLst>
          </a:prstGeom>
          <a:solidFill>
            <a:srgbClr val="EEF1F5"/>
          </a:solidFill>
          <a:ln w="12700">
            <a:solidFill>
              <a:srgbClr val="EEF1F5"/>
            </a:solidFill>
            <a:prstDash val="solid"/>
          </a:ln>
        </p:spPr>
      </p:sp>
      <p:sp>
        <p:nvSpPr>
          <p:cNvPr id="16" name="Shape 12"/>
          <p:cNvSpPr/>
          <p:nvPr/>
        </p:nvSpPr>
        <p:spPr>
          <a:xfrm>
            <a:off x="8321040" y="1737360"/>
            <a:ext cx="594360" cy="594360"/>
          </a:xfrm>
          <a:prstGeom prst="ellipse">
            <a:avLst/>
          </a:prstGeom>
          <a:solidFill>
            <a:srgbClr val="0B7A6F"/>
          </a:solidFill>
          <a:ln w="12700">
            <a:solidFill>
              <a:srgbClr val="0B7A6F"/>
            </a:solidFill>
            <a:prstDash val="solid"/>
          </a:ln>
        </p:spPr>
      </p:sp>
      <p:pic>
        <p:nvPicPr>
          <p:cNvPr id="17" name="Image 2" descr="preencoded.png">    </p:cNvPr>
          <p:cNvPicPr>
            <a:picLocks noChangeAspect="1"/>
          </p:cNvPicPr>
          <p:nvPr/>
        </p:nvPicPr>
        <p:blipFill>
          <a:blip r:embed="rId3"/>
          <a:stretch>
            <a:fillRect/>
          </a:stretch>
        </p:blipFill>
        <p:spPr>
          <a:xfrm>
            <a:off x="8451799" y="1868119"/>
            <a:ext cx="332842" cy="332842"/>
          </a:xfrm>
          <a:prstGeom prst="rect">
            <a:avLst/>
          </a:prstGeom>
        </p:spPr>
      </p:pic>
      <p:sp>
        <p:nvSpPr>
          <p:cNvPr id="18" name="Text 13"/>
          <p:cNvSpPr txBox="1"/>
          <p:nvPr/>
        </p:nvSpPr>
        <p:spPr>
          <a:xfrm>
            <a:off x="10698480" y="175564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03</a:t>
            </a:r>
            <a:endParaRPr lang="en-US" sz="1400" dirty="0"/>
          </a:p>
        </p:txBody>
      </p:sp>
      <p:sp>
        <p:nvSpPr>
          <p:cNvPr id="19" name="Text 14"/>
          <p:cNvSpPr txBox="1"/>
          <p:nvPr/>
        </p:nvSpPr>
        <p:spPr>
          <a:xfrm>
            <a:off x="8321040" y="246888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Scoring</a:t>
            </a:r>
            <a:endParaRPr lang="en-US" sz="2000" dirty="0"/>
          </a:p>
        </p:txBody>
      </p:sp>
      <p:sp>
        <p:nvSpPr>
          <p:cNvPr id="20" name="Text 15"/>
          <p:cNvSpPr txBox="1"/>
          <p:nvPr/>
        </p:nvSpPr>
        <p:spPr>
          <a:xfrm>
            <a:off x="8321040" y="288036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Seven sub-indices, suitability and site screening</a:t>
            </a:r>
            <a:endParaRPr lang="en-US" sz="1400" dirty="0"/>
          </a:p>
        </p:txBody>
      </p:sp>
      <p:sp>
        <p:nvSpPr>
          <p:cNvPr id="21" name="agenda-3"/>
          <p:cNvSpPr/>
          <p:nvPr/>
        </p:nvSpPr>
        <p:spPr>
          <a:xfrm>
            <a:off x="548640" y="3840480"/>
            <a:ext cx="3474720" cy="2103120"/>
          </a:xfrm>
          <a:prstGeom prst="roundRect">
            <a:avLst>
              <a:gd name="adj" fmla="val 3478"/>
            </a:avLst>
          </a:prstGeom>
          <a:solidFill>
            <a:srgbClr val="EEF1F5"/>
          </a:solidFill>
          <a:ln w="12700">
            <a:solidFill>
              <a:srgbClr val="EEF1F5"/>
            </a:solidFill>
            <a:prstDash val="solid"/>
          </a:ln>
        </p:spPr>
      </p:sp>
      <p:sp>
        <p:nvSpPr>
          <p:cNvPr id="22" name="Shape 17"/>
          <p:cNvSpPr/>
          <p:nvPr/>
        </p:nvSpPr>
        <p:spPr>
          <a:xfrm>
            <a:off x="822960" y="4114800"/>
            <a:ext cx="594360" cy="594360"/>
          </a:xfrm>
          <a:prstGeom prst="ellipse">
            <a:avLst/>
          </a:prstGeom>
          <a:solidFill>
            <a:srgbClr val="0B7A6F"/>
          </a:solidFill>
          <a:ln w="12700">
            <a:solidFill>
              <a:srgbClr val="0B7A6F"/>
            </a:solidFill>
            <a:prstDash val="solid"/>
          </a:ln>
        </p:spPr>
      </p:sp>
      <p:pic>
        <p:nvPicPr>
          <p:cNvPr id="23" name="Image 3" descr="preencoded.png">    </p:cNvPr>
          <p:cNvPicPr>
            <a:picLocks noChangeAspect="1"/>
          </p:cNvPicPr>
          <p:nvPr/>
        </p:nvPicPr>
        <p:blipFill>
          <a:blip r:embed="rId4"/>
          <a:stretch>
            <a:fillRect/>
          </a:stretch>
        </p:blipFill>
        <p:spPr>
          <a:xfrm>
            <a:off x="953719" y="4245559"/>
            <a:ext cx="332842" cy="332842"/>
          </a:xfrm>
          <a:prstGeom prst="rect">
            <a:avLst/>
          </a:prstGeom>
        </p:spPr>
      </p:pic>
      <p:sp>
        <p:nvSpPr>
          <p:cNvPr id="24" name="Text 18"/>
          <p:cNvSpPr txBox="1"/>
          <p:nvPr/>
        </p:nvSpPr>
        <p:spPr>
          <a:xfrm>
            <a:off x="3200400" y="413308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04</a:t>
            </a:r>
            <a:endParaRPr lang="en-US" sz="1400" dirty="0"/>
          </a:p>
        </p:txBody>
      </p:sp>
      <p:sp>
        <p:nvSpPr>
          <p:cNvPr id="25" name="Text 19"/>
          <p:cNvSpPr txBox="1"/>
          <p:nvPr/>
        </p:nvSpPr>
        <p:spPr>
          <a:xfrm>
            <a:off x="822960" y="484632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Optimisation</a:t>
            </a:r>
            <a:endParaRPr lang="en-US" sz="2000" dirty="0"/>
          </a:p>
        </p:txBody>
      </p:sp>
      <p:sp>
        <p:nvSpPr>
          <p:cNvPr id="26" name="Text 20"/>
          <p:cNvSpPr txBox="1"/>
          <p:nvPr/>
        </p:nvSpPr>
        <p:spPr>
          <a:xfrm>
            <a:off x="822960" y="525780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Hubs, battery-swap stations and calm corridors on the road network</a:t>
            </a:r>
            <a:endParaRPr lang="en-US" sz="1400" dirty="0"/>
          </a:p>
        </p:txBody>
      </p:sp>
      <p:sp>
        <p:nvSpPr>
          <p:cNvPr id="27" name="agenda-4"/>
          <p:cNvSpPr/>
          <p:nvPr/>
        </p:nvSpPr>
        <p:spPr>
          <a:xfrm>
            <a:off x="4297680" y="3840480"/>
            <a:ext cx="3474720" cy="2103120"/>
          </a:xfrm>
          <a:prstGeom prst="roundRect">
            <a:avLst>
              <a:gd name="adj" fmla="val 3478"/>
            </a:avLst>
          </a:prstGeom>
          <a:solidFill>
            <a:srgbClr val="EEF1F5"/>
          </a:solidFill>
          <a:ln w="12700">
            <a:solidFill>
              <a:srgbClr val="EEF1F5"/>
            </a:solidFill>
            <a:prstDash val="solid"/>
          </a:ln>
        </p:spPr>
      </p:sp>
      <p:sp>
        <p:nvSpPr>
          <p:cNvPr id="28" name="Shape 22"/>
          <p:cNvSpPr/>
          <p:nvPr/>
        </p:nvSpPr>
        <p:spPr>
          <a:xfrm>
            <a:off x="4572000" y="4114800"/>
            <a:ext cx="594360" cy="594360"/>
          </a:xfrm>
          <a:prstGeom prst="ellipse">
            <a:avLst/>
          </a:prstGeom>
          <a:solidFill>
            <a:srgbClr val="0B7A6F"/>
          </a:solidFill>
          <a:ln w="12700">
            <a:solidFill>
              <a:srgbClr val="0B7A6F"/>
            </a:solidFill>
            <a:prstDash val="solid"/>
          </a:ln>
        </p:spPr>
      </p:sp>
      <p:pic>
        <p:nvPicPr>
          <p:cNvPr id="29" name="Image 4" descr="preencoded.png">    </p:cNvPr>
          <p:cNvPicPr>
            <a:picLocks noChangeAspect="1"/>
          </p:cNvPicPr>
          <p:nvPr/>
        </p:nvPicPr>
        <p:blipFill>
          <a:blip r:embed="rId5"/>
          <a:stretch>
            <a:fillRect/>
          </a:stretch>
        </p:blipFill>
        <p:spPr>
          <a:xfrm>
            <a:off x="4702759" y="4245559"/>
            <a:ext cx="332842" cy="332842"/>
          </a:xfrm>
          <a:prstGeom prst="rect">
            <a:avLst/>
          </a:prstGeom>
        </p:spPr>
      </p:pic>
      <p:sp>
        <p:nvSpPr>
          <p:cNvPr id="30" name="Text 23"/>
          <p:cNvSpPr txBox="1"/>
          <p:nvPr/>
        </p:nvSpPr>
        <p:spPr>
          <a:xfrm>
            <a:off x="6949440" y="413308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05</a:t>
            </a:r>
            <a:endParaRPr lang="en-US" sz="1400" dirty="0"/>
          </a:p>
        </p:txBody>
      </p:sp>
      <p:sp>
        <p:nvSpPr>
          <p:cNvPr id="31" name="Text 24"/>
          <p:cNvSpPr txBox="1"/>
          <p:nvPr/>
        </p:nvSpPr>
        <p:spPr>
          <a:xfrm>
            <a:off x="4572000" y="484632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Platform</a:t>
            </a:r>
            <a:endParaRPr lang="en-US" sz="2000" dirty="0"/>
          </a:p>
        </p:txBody>
      </p:sp>
      <p:sp>
        <p:nvSpPr>
          <p:cNvPr id="32" name="Text 25"/>
          <p:cNvSpPr txBox="1"/>
          <p:nvPr/>
        </p:nvSpPr>
        <p:spPr>
          <a:xfrm>
            <a:off x="4572000" y="525780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Architecture, pages, and the planner and user tools</a:t>
            </a:r>
            <a:endParaRPr lang="en-US" sz="1400" dirty="0"/>
          </a:p>
        </p:txBody>
      </p:sp>
      <p:sp>
        <p:nvSpPr>
          <p:cNvPr id="33" name="agenda-5"/>
          <p:cNvSpPr/>
          <p:nvPr/>
        </p:nvSpPr>
        <p:spPr>
          <a:xfrm>
            <a:off x="8046720" y="3840480"/>
            <a:ext cx="3474720" cy="2103120"/>
          </a:xfrm>
          <a:prstGeom prst="roundRect">
            <a:avLst>
              <a:gd name="adj" fmla="val 3478"/>
            </a:avLst>
          </a:prstGeom>
          <a:solidFill>
            <a:srgbClr val="EEF1F5"/>
          </a:solidFill>
          <a:ln w="12700">
            <a:solidFill>
              <a:srgbClr val="EEF1F5"/>
            </a:solidFill>
            <a:prstDash val="solid"/>
          </a:ln>
        </p:spPr>
      </p:sp>
      <p:sp>
        <p:nvSpPr>
          <p:cNvPr id="34" name="Shape 27"/>
          <p:cNvSpPr/>
          <p:nvPr/>
        </p:nvSpPr>
        <p:spPr>
          <a:xfrm>
            <a:off x="8321040" y="4114800"/>
            <a:ext cx="594360" cy="594360"/>
          </a:xfrm>
          <a:prstGeom prst="ellipse">
            <a:avLst/>
          </a:prstGeom>
          <a:solidFill>
            <a:srgbClr val="0B7A6F"/>
          </a:solidFill>
          <a:ln w="12700">
            <a:solidFill>
              <a:srgbClr val="0B7A6F"/>
            </a:solidFill>
            <a:prstDash val="solid"/>
          </a:ln>
        </p:spPr>
      </p:sp>
      <p:pic>
        <p:nvPicPr>
          <p:cNvPr id="35" name="Image 5" descr="preencoded.png">    </p:cNvPr>
          <p:cNvPicPr>
            <a:picLocks noChangeAspect="1"/>
          </p:cNvPicPr>
          <p:nvPr/>
        </p:nvPicPr>
        <p:blipFill>
          <a:blip r:embed="rId6"/>
          <a:stretch>
            <a:fillRect/>
          </a:stretch>
        </p:blipFill>
        <p:spPr>
          <a:xfrm>
            <a:off x="8451799" y="4245559"/>
            <a:ext cx="332842" cy="332842"/>
          </a:xfrm>
          <a:prstGeom prst="rect">
            <a:avLst/>
          </a:prstGeom>
        </p:spPr>
      </p:pic>
      <p:sp>
        <p:nvSpPr>
          <p:cNvPr id="36" name="Text 28"/>
          <p:cNvSpPr txBox="1"/>
          <p:nvPr/>
        </p:nvSpPr>
        <p:spPr>
          <a:xfrm>
            <a:off x="10698480" y="4133088"/>
            <a:ext cx="548640" cy="365760"/>
          </a:xfrm>
          <a:prstGeom prst="rect">
            <a:avLst/>
          </a:prstGeom>
          <a:noFill/>
          <a:ln/>
        </p:spPr>
        <p:txBody>
          <a:bodyPr wrap="square" lIns="0" tIns="0" rIns="0" bIns="0" rtlCol="0" anchor="t"/>
          <a:lstStyle/>
          <a:p>
            <a:pPr algn="r" indent="0" marL="0">
              <a:buNone/>
            </a:pPr>
            <a:r>
              <a:rPr lang="en-US" sz="1400" dirty="0">
                <a:solidFill>
                  <a:srgbClr val="6B788B"/>
                </a:solidFill>
                <a:latin typeface="Calibri" pitchFamily="34" charset="0"/>
                <a:ea typeface="Calibri" pitchFamily="34" charset="-122"/>
                <a:cs typeface="Calibri" pitchFamily="34" charset="-120"/>
              </a:rPr>
              <a:t>06</a:t>
            </a:r>
            <a:endParaRPr lang="en-US" sz="1400" dirty="0"/>
          </a:p>
        </p:txBody>
      </p:sp>
      <p:sp>
        <p:nvSpPr>
          <p:cNvPr id="37" name="Text 29"/>
          <p:cNvSpPr txBox="1"/>
          <p:nvPr/>
        </p:nvSpPr>
        <p:spPr>
          <a:xfrm>
            <a:off x="8321040" y="4846320"/>
            <a:ext cx="29260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Limits</a:t>
            </a:r>
            <a:endParaRPr lang="en-US" sz="2000" dirty="0"/>
          </a:p>
        </p:txBody>
      </p:sp>
      <p:sp>
        <p:nvSpPr>
          <p:cNvPr id="38" name="Text 30"/>
          <p:cNvSpPr txBox="1"/>
          <p:nvPr/>
        </p:nvSpPr>
        <p:spPr>
          <a:xfrm>
            <a:off x="8321040" y="5257800"/>
            <a:ext cx="29718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Assumptions, limitations and next steps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problem: demand and safe, serviced supply do not meet</a:t>
            </a:r>
            <a:endParaRPr lang="en-US" sz="3000" dirty="0"/>
          </a:p>
        </p:txBody>
      </p:sp>
      <p:sp>
        <p:nvSpPr>
          <p:cNvPr id="3" name="rq-card"/>
          <p:cNvSpPr/>
          <p:nvPr/>
        </p:nvSpPr>
        <p:spPr>
          <a:xfrm>
            <a:off x="548640" y="1371600"/>
            <a:ext cx="5212080" cy="4480560"/>
          </a:xfrm>
          <a:prstGeom prst="roundRect">
            <a:avLst>
              <a:gd name="adj" fmla="val 1633"/>
            </a:avLst>
          </a:prstGeom>
          <a:solidFill>
            <a:srgbClr val="10233F"/>
          </a:solidFill>
          <a:ln w="12700">
            <a:solidFill>
              <a:srgbClr val="10233F"/>
            </a:solidFill>
            <a:prstDash val="solid"/>
          </a:ln>
        </p:spPr>
      </p:sp>
      <p:sp>
        <p:nvSpPr>
          <p:cNvPr id="4" name="Text 2"/>
          <p:cNvSpPr txBox="1"/>
          <p:nvPr/>
        </p:nvSpPr>
        <p:spPr>
          <a:xfrm>
            <a:off x="868680" y="1645920"/>
            <a:ext cx="45720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RESEARCH QUESTION</a:t>
            </a:r>
            <a:endParaRPr lang="en-US" sz="1200" dirty="0"/>
          </a:p>
        </p:txBody>
      </p:sp>
      <p:sp>
        <p:nvSpPr>
          <p:cNvPr id="5" name="Text 3"/>
          <p:cNvSpPr txBox="1"/>
          <p:nvPr/>
        </p:nvSpPr>
        <p:spPr>
          <a:xfrm>
            <a:off x="868680" y="2057400"/>
            <a:ext cx="4617720" cy="3566160"/>
          </a:xfrm>
          <a:prstGeom prst="rect">
            <a:avLst/>
          </a:prstGeom>
          <a:noFill/>
          <a:ln/>
        </p:spPr>
        <p:txBody>
          <a:bodyPr wrap="square" lIns="0" tIns="0" rIns="0" bIns="0" rtlCol="0" anchor="t"/>
          <a:lstStyle/>
          <a:p>
            <a:pPr indent="0" marL="0">
              <a:lnSpc>
                <a:spcPct val="115000"/>
              </a:lnSpc>
              <a:buNone/>
            </a:pPr>
            <a:r>
              <a:rPr lang="en-US" sz="1900" dirty="0">
                <a:solidFill>
                  <a:srgbClr val="FFFFFF"/>
                </a:solidFill>
                <a:latin typeface="Cambria" pitchFamily="34" charset="0"/>
                <a:ea typeface="Cambria" pitchFamily="34" charset="-122"/>
                <a:cs typeface="Cambria" pitchFamily="34" charset="-120"/>
              </a:rPr>
              <a:t>How should a shared e-micromobility service provider in Delhi locate its hubs, battery-swap stations and riding corridors to capture the most short-trip demand that is safe and practical to serve, when </a:t>
            </a:r>
            <a:pPr indent="0" marL="0">
              <a:lnSpc>
                <a:spcPct val="115000"/>
              </a:lnSpc>
              <a:buNone/>
            </a:pPr>
            <a:r>
              <a:rPr lang="en-US" sz="1900" b="1" dirty="0">
                <a:solidFill>
                  <a:srgbClr val="BFE3DD"/>
                </a:solidFill>
                <a:latin typeface="Cambria" pitchFamily="34" charset="0"/>
                <a:ea typeface="Cambria" pitchFamily="34" charset="-122"/>
                <a:cs typeface="Cambria" pitchFamily="34" charset="-120"/>
              </a:rPr>
              <a:t>96.5%</a:t>
            </a:r>
            <a:pPr indent="0" marL="0">
              <a:lnSpc>
                <a:spcPct val="115000"/>
              </a:lnSpc>
              <a:buNone/>
            </a:pPr>
            <a:r>
              <a:rPr lang="en-US" sz="1900" dirty="0">
                <a:solidFill>
                  <a:srgbClr val="FFFFFF"/>
                </a:solidFill>
                <a:latin typeface="Cambria" pitchFamily="34" charset="0"/>
                <a:ea typeface="Cambria" pitchFamily="34" charset="-122"/>
                <a:cs typeface="Cambria" pitchFamily="34" charset="-120"/>
              </a:rPr>
              <a:t> of high-demand neighbourhoods have no shared e-bike service, </a:t>
            </a:r>
            <a:pPr indent="0" marL="0">
              <a:lnSpc>
                <a:spcPct val="115000"/>
              </a:lnSpc>
              <a:buNone/>
            </a:pPr>
            <a:r>
              <a:rPr lang="en-US" sz="1900" b="1" dirty="0">
                <a:solidFill>
                  <a:srgbClr val="BFE3DD"/>
                </a:solidFill>
                <a:latin typeface="Cambria" pitchFamily="34" charset="0"/>
                <a:ea typeface="Cambria" pitchFamily="34" charset="-122"/>
                <a:cs typeface="Cambria" pitchFamily="34" charset="-120"/>
              </a:rPr>
              <a:t>66%</a:t>
            </a:r>
            <a:pPr indent="0" marL="0">
              <a:lnSpc>
                <a:spcPct val="115000"/>
              </a:lnSpc>
              <a:buNone/>
            </a:pPr>
            <a:r>
              <a:rPr lang="en-US" sz="1900" dirty="0">
                <a:solidFill>
                  <a:srgbClr val="FFFFFF"/>
                </a:solidFill>
                <a:latin typeface="Cambria" pitchFamily="34" charset="0"/>
                <a:ea typeface="Cambria" pitchFamily="34" charset="-122"/>
                <a:cs typeface="Cambria" pitchFamily="34" charset="-120"/>
              </a:rPr>
              <a:t> have no safety facility and </a:t>
            </a:r>
            <a:pPr indent="0" marL="0">
              <a:lnSpc>
                <a:spcPct val="115000"/>
              </a:lnSpc>
              <a:buNone/>
            </a:pPr>
            <a:r>
              <a:rPr lang="en-US" sz="1900" b="1" dirty="0">
                <a:solidFill>
                  <a:srgbClr val="BFE3DD"/>
                </a:solidFill>
                <a:latin typeface="Cambria" pitchFamily="34" charset="0"/>
                <a:ea typeface="Cambria" pitchFamily="34" charset="-122"/>
                <a:cs typeface="Cambria" pitchFamily="34" charset="-120"/>
              </a:rPr>
              <a:t>69%</a:t>
            </a:r>
            <a:pPr indent="0" marL="0">
              <a:lnSpc>
                <a:spcPct val="115000"/>
              </a:lnSpc>
              <a:buNone/>
            </a:pPr>
            <a:r>
              <a:rPr lang="en-US" sz="1900" dirty="0">
                <a:solidFill>
                  <a:srgbClr val="FFFFFF"/>
                </a:solidFill>
                <a:latin typeface="Cambria" pitchFamily="34" charset="0"/>
                <a:ea typeface="Cambria" pitchFamily="34" charset="-122"/>
                <a:cs typeface="Cambria" pitchFamily="34" charset="-120"/>
              </a:rPr>
              <a:t> carry above-median traffic stress?</a:t>
            </a:r>
            <a:endParaRPr lang="en-US" sz="1900" dirty="0"/>
          </a:p>
        </p:txBody>
      </p:sp>
      <p:sp>
        <p:nvSpPr>
          <p:cNvPr id="6" name="Text 4"/>
          <p:cNvSpPr txBox="1"/>
          <p:nvPr/>
        </p:nvSpPr>
        <p:spPr>
          <a:xfrm>
            <a:off x="6309360" y="1463040"/>
            <a:ext cx="2468880" cy="685800"/>
          </a:xfrm>
          <a:prstGeom prst="rect">
            <a:avLst/>
          </a:prstGeom>
          <a:noFill/>
          <a:ln/>
        </p:spPr>
        <p:txBody>
          <a:bodyPr wrap="square" lIns="0" tIns="0" rIns="0" bIns="0" rtlCol="0" anchor="b"/>
          <a:lstStyle/>
          <a:p>
            <a:pPr indent="0" marL="0">
              <a:buNone/>
            </a:pPr>
            <a:r>
              <a:rPr lang="en-US" sz="3600" b="1" dirty="0">
                <a:solidFill>
                  <a:srgbClr val="D03B3B"/>
                </a:solidFill>
                <a:latin typeface="Cambria" pitchFamily="34" charset="0"/>
                <a:ea typeface="Cambria" pitchFamily="34" charset="-122"/>
                <a:cs typeface="Cambria" pitchFamily="34" charset="-120"/>
              </a:rPr>
              <a:t>96.5%</a:t>
            </a:r>
            <a:endParaRPr lang="en-US" sz="3600" dirty="0"/>
          </a:p>
        </p:txBody>
      </p:sp>
      <p:sp>
        <p:nvSpPr>
          <p:cNvPr id="7" name="Text 5"/>
          <p:cNvSpPr txBox="1"/>
          <p:nvPr/>
        </p:nvSpPr>
        <p:spPr>
          <a:xfrm>
            <a:off x="6309360" y="2194560"/>
            <a:ext cx="246888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high-demand cells have no shared e-bike service</a:t>
            </a:r>
            <a:endParaRPr lang="en-US" sz="1300" dirty="0"/>
          </a:p>
        </p:txBody>
      </p:sp>
      <p:sp>
        <p:nvSpPr>
          <p:cNvPr id="8" name="Text 6"/>
          <p:cNvSpPr txBox="1"/>
          <p:nvPr/>
        </p:nvSpPr>
        <p:spPr>
          <a:xfrm>
            <a:off x="9052560" y="1463040"/>
            <a:ext cx="246888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66%</a:t>
            </a:r>
            <a:endParaRPr lang="en-US" sz="3600" dirty="0"/>
          </a:p>
        </p:txBody>
      </p:sp>
      <p:sp>
        <p:nvSpPr>
          <p:cNvPr id="9" name="Text 7"/>
          <p:cNvSpPr txBox="1"/>
          <p:nvPr/>
        </p:nvSpPr>
        <p:spPr>
          <a:xfrm>
            <a:off x="9052560" y="2194560"/>
            <a:ext cx="246888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high-demand cells have no safety facility</a:t>
            </a:r>
            <a:endParaRPr lang="en-US" sz="1300" dirty="0"/>
          </a:p>
        </p:txBody>
      </p:sp>
      <p:sp>
        <p:nvSpPr>
          <p:cNvPr id="10" name="Text 8"/>
          <p:cNvSpPr txBox="1"/>
          <p:nvPr/>
        </p:nvSpPr>
        <p:spPr>
          <a:xfrm>
            <a:off x="6309360" y="3703320"/>
            <a:ext cx="246888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69%</a:t>
            </a:r>
            <a:endParaRPr lang="en-US" sz="3600" dirty="0"/>
          </a:p>
        </p:txBody>
      </p:sp>
      <p:sp>
        <p:nvSpPr>
          <p:cNvPr id="11" name="Text 9"/>
          <p:cNvSpPr txBox="1"/>
          <p:nvPr/>
        </p:nvSpPr>
        <p:spPr>
          <a:xfrm>
            <a:off x="6309360" y="4434840"/>
            <a:ext cx="246888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high-demand cells have above-median traffic stress</a:t>
            </a:r>
            <a:endParaRPr lang="en-US" sz="1300" dirty="0"/>
          </a:p>
        </p:txBody>
      </p:sp>
      <p:sp>
        <p:nvSpPr>
          <p:cNvPr id="12" name="Text 10"/>
          <p:cNvSpPr txBox="1"/>
          <p:nvPr/>
        </p:nvSpPr>
        <p:spPr>
          <a:xfrm>
            <a:off x="9052560" y="3703320"/>
            <a:ext cx="2468880" cy="685800"/>
          </a:xfrm>
          <a:prstGeom prst="rect">
            <a:avLst/>
          </a:prstGeom>
          <a:noFill/>
          <a:ln/>
        </p:spPr>
        <p:txBody>
          <a:bodyPr wrap="square" lIns="0" tIns="0" rIns="0" bIns="0" rtlCol="0" anchor="b"/>
          <a:lstStyle/>
          <a:p>
            <a:pPr indent="0" marL="0">
              <a:buNone/>
            </a:pPr>
            <a:r>
              <a:rPr lang="en-US" sz="3600" b="1" dirty="0">
                <a:solidFill>
                  <a:srgbClr val="0B7A6F"/>
                </a:solidFill>
                <a:latin typeface="Cambria" pitchFamily="34" charset="0"/>
                <a:ea typeface="Cambria" pitchFamily="34" charset="-122"/>
                <a:cs typeface="Cambria" pitchFamily="34" charset="-120"/>
              </a:rPr>
              <a:t>12.1</a:t>
            </a:r>
            <a:endParaRPr lang="en-US" sz="3600" dirty="0"/>
          </a:p>
        </p:txBody>
      </p:sp>
      <p:sp>
        <p:nvSpPr>
          <p:cNvPr id="13" name="Text 11"/>
          <p:cNvSpPr txBox="1"/>
          <p:nvPr/>
        </p:nvSpPr>
        <p:spPr>
          <a:xfrm>
            <a:off x="9052560" y="4434840"/>
            <a:ext cx="246888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trips per battery charge, so swaps must be planned</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Evidence: safety and supply do not rise with demand</a:t>
            </a:r>
            <a:endParaRPr lang="en-US" sz="3000" dirty="0"/>
          </a:p>
        </p:txBody>
      </p:sp>
      <p:graphicFrame>
        <p:nvGraphicFramePr>
          <p:cNvPr id="3" name="Chart 0"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ev1"/>
          <p:cNvSpPr/>
          <p:nvPr/>
        </p:nvSpPr>
        <p:spPr>
          <a:xfrm>
            <a:off x="7863840" y="1371600"/>
            <a:ext cx="3749040" cy="2103120"/>
          </a:xfrm>
          <a:prstGeom prst="roundRect">
            <a:avLst>
              <a:gd name="adj" fmla="val 3478"/>
            </a:avLst>
          </a:prstGeom>
          <a:solidFill>
            <a:srgbClr val="EEF1F5"/>
          </a:solidFill>
          <a:ln w="12700">
            <a:solidFill>
              <a:srgbClr val="EEF1F5"/>
            </a:solidFill>
            <a:prstDash val="solid"/>
          </a:ln>
        </p:spPr>
      </p:sp>
      <p:sp>
        <p:nvSpPr>
          <p:cNvPr id="5" name="Text 2"/>
          <p:cNvSpPr txBox="1"/>
          <p:nvPr/>
        </p:nvSpPr>
        <p:spPr>
          <a:xfrm>
            <a:off x="8138160" y="1463040"/>
            <a:ext cx="329184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0.40 → 0.57</a:t>
            </a:r>
            <a:endParaRPr lang="en-US" sz="3600" dirty="0"/>
          </a:p>
        </p:txBody>
      </p:sp>
      <p:sp>
        <p:nvSpPr>
          <p:cNvPr id="6" name="Text 3"/>
          <p:cNvSpPr txBox="1"/>
          <p:nvPr/>
        </p:nvSpPr>
        <p:spPr>
          <a:xfrm>
            <a:off x="8138160" y="2194560"/>
            <a:ext cx="329184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Mean traffic stress rises from the lowest to the highest demand quintile</a:t>
            </a:r>
            <a:endParaRPr lang="en-US" sz="1300" dirty="0"/>
          </a:p>
        </p:txBody>
      </p:sp>
      <p:sp>
        <p:nvSpPr>
          <p:cNvPr id="7" name="ev2"/>
          <p:cNvSpPr/>
          <p:nvPr/>
        </p:nvSpPr>
        <p:spPr>
          <a:xfrm>
            <a:off x="7863840" y="3749040"/>
            <a:ext cx="3749040" cy="2103120"/>
          </a:xfrm>
          <a:prstGeom prst="roundRect">
            <a:avLst>
              <a:gd name="adj" fmla="val 3478"/>
            </a:avLst>
          </a:prstGeom>
          <a:solidFill>
            <a:srgbClr val="EEF1F5"/>
          </a:solidFill>
          <a:ln w="12700">
            <a:solidFill>
              <a:srgbClr val="EEF1F5"/>
            </a:solidFill>
            <a:prstDash val="solid"/>
          </a:ln>
        </p:spPr>
      </p:sp>
      <p:sp>
        <p:nvSpPr>
          <p:cNvPr id="8" name="Text 5"/>
          <p:cNvSpPr txBox="1"/>
          <p:nvPr/>
        </p:nvSpPr>
        <p:spPr>
          <a:xfrm>
            <a:off x="8138160" y="3840480"/>
            <a:ext cx="3291840" cy="685800"/>
          </a:xfrm>
          <a:prstGeom prst="rect">
            <a:avLst/>
          </a:prstGeom>
          <a:noFill/>
          <a:ln/>
        </p:spPr>
        <p:txBody>
          <a:bodyPr wrap="square" lIns="0" tIns="0" rIns="0" bIns="0" rtlCol="0" anchor="b"/>
          <a:lstStyle/>
          <a:p>
            <a:pPr indent="0" marL="0">
              <a:buNone/>
            </a:pPr>
            <a:r>
              <a:rPr lang="en-US" sz="3600" b="1" dirty="0">
                <a:solidFill>
                  <a:srgbClr val="D03B3B"/>
                </a:solidFill>
                <a:latin typeface="Cambria" pitchFamily="34" charset="0"/>
                <a:ea typeface="Cambria" pitchFamily="34" charset="-122"/>
                <a:cs typeface="Cambria" pitchFamily="34" charset="-120"/>
              </a:rPr>
              <a:t>2.7%</a:t>
            </a:r>
            <a:endParaRPr lang="en-US" sz="3600" dirty="0"/>
          </a:p>
        </p:txBody>
      </p:sp>
      <p:sp>
        <p:nvSpPr>
          <p:cNvPr id="9" name="Text 6"/>
          <p:cNvSpPr txBox="1"/>
          <p:nvPr/>
        </p:nvSpPr>
        <p:spPr>
          <a:xfrm>
            <a:off x="8138160" y="4572000"/>
            <a:ext cx="329184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top-demand cells (Q5) have a Yulu zone; supply is concentrated in a few cells</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515600" cy="109728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01  Data and preparation</a:t>
            </a:r>
            <a:endParaRPr lang="en-US" sz="4000" dirty="0"/>
          </a:p>
        </p:txBody>
      </p:sp>
      <p:sp>
        <p:nvSpPr>
          <p:cNvPr id="3" name="Text 0"/>
          <p:cNvSpPr/>
          <p:nvPr>
            <p:ph idx="101" type="body" hasCustomPrompt="1"/>
          </p:nvPr>
        </p:nvSpPr>
        <p:spPr>
          <a:xfrm>
            <a:off x="640080" y="3886200"/>
            <a:ext cx="960120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Two inputs: an analysis grid of 2,227 hexagons and the OpenStreetMap road network with traffic-stress ratings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Two datasets feed every step</a:t>
            </a:r>
            <a:endParaRPr lang="en-US" sz="3000" dirty="0"/>
          </a:p>
        </p:txBody>
      </p:sp>
      <p:sp>
        <p:nvSpPr>
          <p:cNvPr id="3" name="grid-card"/>
          <p:cNvSpPr/>
          <p:nvPr/>
        </p:nvSpPr>
        <p:spPr>
          <a:xfrm>
            <a:off x="548640" y="1371600"/>
            <a:ext cx="5440680" cy="4663440"/>
          </a:xfrm>
          <a:prstGeom prst="roundRect">
            <a:avLst>
              <a:gd name="adj" fmla="val 1569"/>
            </a:avLst>
          </a:prstGeom>
          <a:solidFill>
            <a:srgbClr val="EEF1F5"/>
          </a:solidFill>
          <a:ln w="12700">
            <a:solidFill>
              <a:srgbClr val="EEF1F5"/>
            </a:solidFill>
            <a:prstDash val="solid"/>
          </a:ln>
        </p:spPr>
      </p:sp>
      <p:sp>
        <p:nvSpPr>
          <p:cNvPr id="4" name="Shape 2"/>
          <p:cNvSpPr/>
          <p:nvPr/>
        </p:nvSpPr>
        <p:spPr>
          <a:xfrm>
            <a:off x="822960" y="1645920"/>
            <a:ext cx="594360" cy="594360"/>
          </a:xfrm>
          <a:prstGeom prst="ellipse">
            <a:avLst/>
          </a:prstGeom>
          <a:solidFill>
            <a:srgbClr val="0B7A6F"/>
          </a:solidFill>
          <a:ln w="12700">
            <a:solidFill>
              <a:srgbClr val="0B7A6F"/>
            </a:solidFill>
            <a:prstDash val="solid"/>
          </a:ln>
        </p:spPr>
      </p:sp>
      <p:pic>
        <p:nvPicPr>
          <p:cNvPr id="5" name="Image 0" descr="preencoded.png">    </p:cNvPr>
          <p:cNvPicPr>
            <a:picLocks noChangeAspect="1"/>
          </p:cNvPicPr>
          <p:nvPr/>
        </p:nvPicPr>
        <p:blipFill>
          <a:blip r:embed="rId1"/>
          <a:stretch>
            <a:fillRect/>
          </a:stretch>
        </p:blipFill>
        <p:spPr>
          <a:xfrm>
            <a:off x="953719" y="1776679"/>
            <a:ext cx="332842" cy="332842"/>
          </a:xfrm>
          <a:prstGeom prst="rect">
            <a:avLst/>
          </a:prstGeom>
        </p:spPr>
      </p:pic>
      <p:sp>
        <p:nvSpPr>
          <p:cNvPr id="6" name="Text 3"/>
          <p:cNvSpPr txBox="1"/>
          <p:nvPr/>
        </p:nvSpPr>
        <p:spPr>
          <a:xfrm>
            <a:off x="1600200" y="1691640"/>
            <a:ext cx="41148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Analysis grid</a:t>
            </a:r>
            <a:endParaRPr lang="en-US" sz="2200" dirty="0"/>
          </a:p>
        </p:txBody>
      </p:sp>
      <p:sp>
        <p:nvSpPr>
          <p:cNvPr id="7" name="Text 4"/>
          <p:cNvSpPr txBox="1"/>
          <p:nvPr/>
        </p:nvSpPr>
        <p:spPr>
          <a:xfrm>
            <a:off x="1600200" y="2148840"/>
            <a:ext cx="4206240" cy="320040"/>
          </a:xfrm>
          <a:prstGeom prst="rect">
            <a:avLst/>
          </a:prstGeom>
          <a:noFill/>
          <a:ln/>
        </p:spPr>
        <p:txBody>
          <a:bodyPr wrap="square" lIns="0" tIns="0" rIns="0" bIns="0" rtlCol="0" anchor="t"/>
          <a:lstStyle/>
          <a:p>
            <a:pPr indent="0" marL="0">
              <a:buNone/>
            </a:pPr>
            <a:r>
              <a:rPr lang="en-US" sz="1100" dirty="0">
                <a:solidFill>
                  <a:srgbClr val="6B788B"/>
                </a:solidFill>
                <a:latin typeface="Calibri" pitchFamily="34" charset="0"/>
                <a:ea typeface="Calibri" pitchFamily="34" charset="-122"/>
                <a:cs typeface="Calibri" pitchFamily="34" charset="-120"/>
              </a:rPr>
              <a:t>fd2c6989-17_grid_work_2_0_with_corrected_UMVI.csv + sri.gpkg</a:t>
            </a:r>
            <a:endParaRPr lang="en-US" sz="1100" dirty="0"/>
          </a:p>
        </p:txBody>
      </p:sp>
      <p:sp>
        <p:nvSpPr>
          <p:cNvPr id="8" name="Text 5"/>
          <p:cNvSpPr txBox="1"/>
          <p:nvPr/>
        </p:nvSpPr>
        <p:spPr>
          <a:xfrm>
            <a:off x="868680" y="2697480"/>
            <a:ext cx="493776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2,227 hexagons of 0.66 km², 1,470 km², EPSG:32643</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About 120 indicators per cell</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Demand: CLEDS e-bike demand, population, POIs, night lights</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Access: FAI, POIs within 10 min, intersections, POI diversity</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Safety &amp; comfort: low-stress share, slope, NMR, safety points, sidewalks, trees</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Context: OMAS, Yulu zones, socio-economic index, land use, UMVI/NMSI/MIRI</a:t>
            </a:r>
            <a:endParaRPr lang="en-US" sz="1400" dirty="0"/>
          </a:p>
        </p:txBody>
      </p:sp>
      <p:sp>
        <p:nvSpPr>
          <p:cNvPr id="9" name="road-card"/>
          <p:cNvSpPr/>
          <p:nvPr/>
        </p:nvSpPr>
        <p:spPr>
          <a:xfrm>
            <a:off x="6217920" y="1371600"/>
            <a:ext cx="5440680" cy="4663440"/>
          </a:xfrm>
          <a:prstGeom prst="roundRect">
            <a:avLst>
              <a:gd name="adj" fmla="val 1569"/>
            </a:avLst>
          </a:prstGeom>
          <a:solidFill>
            <a:srgbClr val="EEF1F5"/>
          </a:solidFill>
          <a:ln w="12700">
            <a:solidFill>
              <a:srgbClr val="EEF1F5"/>
            </a:solidFill>
            <a:prstDash val="solid"/>
          </a:ln>
        </p:spPr>
      </p:sp>
      <p:sp>
        <p:nvSpPr>
          <p:cNvPr id="10" name="Shape 7"/>
          <p:cNvSpPr/>
          <p:nvPr/>
        </p:nvSpPr>
        <p:spPr>
          <a:xfrm>
            <a:off x="6492240" y="1645920"/>
            <a:ext cx="594360" cy="594360"/>
          </a:xfrm>
          <a:prstGeom prst="ellipse">
            <a:avLst/>
          </a:prstGeom>
          <a:solidFill>
            <a:srgbClr val="0B7A6F"/>
          </a:solidFill>
          <a:ln w="12700">
            <a:solidFill>
              <a:srgbClr val="0B7A6F"/>
            </a:solidFill>
            <a:prstDash val="solid"/>
          </a:ln>
        </p:spPr>
      </p:sp>
      <p:pic>
        <p:nvPicPr>
          <p:cNvPr id="11" name="Image 1" descr="preencoded.png">    </p:cNvPr>
          <p:cNvPicPr>
            <a:picLocks noChangeAspect="1"/>
          </p:cNvPicPr>
          <p:nvPr/>
        </p:nvPicPr>
        <p:blipFill>
          <a:blip r:embed="rId2"/>
          <a:stretch>
            <a:fillRect/>
          </a:stretch>
        </p:blipFill>
        <p:spPr>
          <a:xfrm>
            <a:off x="6622999" y="1776679"/>
            <a:ext cx="332842" cy="332842"/>
          </a:xfrm>
          <a:prstGeom prst="rect">
            <a:avLst/>
          </a:prstGeom>
        </p:spPr>
      </p:pic>
      <p:sp>
        <p:nvSpPr>
          <p:cNvPr id="12" name="Text 8"/>
          <p:cNvSpPr txBox="1"/>
          <p:nvPr/>
        </p:nvSpPr>
        <p:spPr>
          <a:xfrm>
            <a:off x="7269480" y="1691640"/>
            <a:ext cx="41148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Road network</a:t>
            </a:r>
            <a:endParaRPr lang="en-US" sz="2200" dirty="0"/>
          </a:p>
        </p:txBody>
      </p:sp>
      <p:sp>
        <p:nvSpPr>
          <p:cNvPr id="13" name="Text 9"/>
          <p:cNvSpPr txBox="1"/>
          <p:nvPr/>
        </p:nvSpPr>
        <p:spPr>
          <a:xfrm>
            <a:off x="7269480" y="2148840"/>
            <a:ext cx="4206240" cy="320040"/>
          </a:xfrm>
          <a:prstGeom prst="rect">
            <a:avLst/>
          </a:prstGeom>
          <a:noFill/>
          <a:ln/>
        </p:spPr>
        <p:txBody>
          <a:bodyPr wrap="square" lIns="0" tIns="0" rIns="0" bIns="0" rtlCol="0" anchor="t"/>
          <a:lstStyle/>
          <a:p>
            <a:pPr indent="0" marL="0">
              <a:buNone/>
            </a:pPr>
            <a:r>
              <a:rPr lang="en-US" sz="1100" dirty="0">
                <a:solidFill>
                  <a:srgbClr val="6B788B"/>
                </a:solidFill>
                <a:latin typeface="Calibri" pitchFamily="34" charset="0"/>
                <a:ea typeface="Calibri" pitchFamily="34" charset="-122"/>
                <a:cs typeface="Calibri" pitchFamily="34" charset="-120"/>
              </a:rPr>
              <a:t>sup.gpkg · layer 04_highway_filtered_clip_43n</a:t>
            </a:r>
            <a:endParaRPr lang="en-US" sz="1100" dirty="0"/>
          </a:p>
        </p:txBody>
      </p:sp>
      <p:sp>
        <p:nvSpPr>
          <p:cNvPr id="14" name="Text 10"/>
          <p:cNvSpPr txBox="1"/>
          <p:nvPr/>
        </p:nvSpPr>
        <p:spPr>
          <a:xfrm>
            <a:off x="6537960" y="2697480"/>
            <a:ext cx="493776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149,135 OpenStreetMap ways, EPSG:32643</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23,269 km of road in 8 classes, trunk to service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Traffic stress per way: low or high (2,085 km high, 9.0%)</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Fields: highway, Length_m, Stress, osm_id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Used for coverage, station distances, corridors, van loops and every route in the app</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Study area: NCT Delhi on the hex grid and road network</a:t>
            </a:r>
            <a:endParaRPr lang="en-US" sz="3000" dirty="0"/>
          </a:p>
        </p:txBody>
      </p:sp>
      <p:pic>
        <p:nvPicPr>
          <p:cNvPr id="3" name="Image 0" descr="f_study.png">    </p:cNvPr>
          <p:cNvPicPr>
            <a:picLocks noChangeAspect="1"/>
          </p:cNvPicPr>
          <p:nvPr/>
        </p:nvPicPr>
        <p:blipFill>
          <a:blip r:embed="rId1"/>
          <a:stretch>
            <a:fillRect/>
          </a:stretch>
        </p:blipFill>
        <p:spPr>
          <a:xfrm>
            <a:off x="723775" y="1234440"/>
            <a:ext cx="4770371" cy="5029200"/>
          </a:xfrm>
          <a:prstGeom prst="rect">
            <a:avLst/>
          </a:prstGeom>
        </p:spPr>
      </p:pic>
      <p:graphicFrame>
        <p:nvGraphicFramePr>
          <p:cNvPr id="4" name="Chart 0" descr=""/>
          <p:cNvGraphicFramePr/>
          <p:nvPr/>
        </p:nvGraphicFramePr>
        <p:xfrm>
          <a:off x="6035040" y="1325880"/>
          <a:ext cx="5577840" cy="37490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6126480" y="5257800"/>
            <a:ext cx="5394960" cy="1005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19.8 million residents (population_mean × cell area)</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Residential streets are 63% of the network; trunk, primary and secondary roads 9%</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Preparation: from raw layers to a routable graph</a:t>
            </a:r>
            <a:endParaRPr lang="en-US" sz="3000" dirty="0"/>
          </a:p>
        </p:txBody>
      </p:sp>
      <p:sp>
        <p:nvSpPr>
          <p:cNvPr id="3" name="Shape 1"/>
          <p:cNvSpPr/>
          <p:nvPr/>
        </p:nvSpPr>
        <p:spPr>
          <a:xfrm>
            <a:off x="548640" y="1371600"/>
            <a:ext cx="438912" cy="438912"/>
          </a:xfrm>
          <a:prstGeom prst="ellipse">
            <a:avLst/>
          </a:prstGeom>
          <a:solidFill>
            <a:srgbClr val="10233F"/>
          </a:solidFill>
          <a:ln w="12700">
            <a:solidFill>
              <a:srgbClr val="10233F"/>
            </a:solidFill>
            <a:prstDash val="solid"/>
          </a:ln>
        </p:spPr>
      </p:sp>
      <p:sp>
        <p:nvSpPr>
          <p:cNvPr id="4" name="Text 2"/>
          <p:cNvSpPr txBox="1"/>
          <p:nvPr/>
        </p:nvSpPr>
        <p:spPr>
          <a:xfrm>
            <a:off x="548640" y="13716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43000" y="13441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Join</a:t>
            </a:r>
            <a:endParaRPr lang="en-US" sz="1500" dirty="0"/>
          </a:p>
        </p:txBody>
      </p:sp>
      <p:sp>
        <p:nvSpPr>
          <p:cNvPr id="6" name="Text 4"/>
          <p:cNvSpPr txBox="1"/>
          <p:nvPr/>
        </p:nvSpPr>
        <p:spPr>
          <a:xfrm>
            <a:off x="2377440" y="13441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Grid CSV joined to hex geometry on Grid_ID; all 2,227 rows match</a:t>
            </a:r>
            <a:endParaRPr lang="en-US" sz="1300" dirty="0"/>
          </a:p>
        </p:txBody>
      </p:sp>
      <p:sp>
        <p:nvSpPr>
          <p:cNvPr id="7" name="Shape 5"/>
          <p:cNvSpPr/>
          <p:nvPr/>
        </p:nvSpPr>
        <p:spPr>
          <a:xfrm>
            <a:off x="548640" y="2057400"/>
            <a:ext cx="438912" cy="438912"/>
          </a:xfrm>
          <a:prstGeom prst="ellipse">
            <a:avLst/>
          </a:prstGeom>
          <a:solidFill>
            <a:srgbClr val="10233F"/>
          </a:solidFill>
          <a:ln w="12700">
            <a:solidFill>
              <a:srgbClr val="10233F"/>
            </a:solidFill>
            <a:prstDash val="solid"/>
          </a:ln>
        </p:spPr>
      </p:sp>
      <p:sp>
        <p:nvSpPr>
          <p:cNvPr id="8" name="Text 6"/>
          <p:cNvSpPr txBox="1"/>
          <p:nvPr/>
        </p:nvSpPr>
        <p:spPr>
          <a:xfrm>
            <a:off x="548640" y="20574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0299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Derive</a:t>
            </a:r>
            <a:endParaRPr lang="en-US" sz="1500" dirty="0"/>
          </a:p>
        </p:txBody>
      </p:sp>
      <p:sp>
        <p:nvSpPr>
          <p:cNvPr id="10" name="Text 8"/>
          <p:cNvSpPr txBox="1"/>
          <p:nvPr/>
        </p:nvSpPr>
        <p:spPr>
          <a:xfrm>
            <a:off x="2377440" y="20299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Population, built-up / water / green shares, heavy-traffic load from street-view counts</a:t>
            </a:r>
            <a:endParaRPr lang="en-US" sz="1300" dirty="0"/>
          </a:p>
        </p:txBody>
      </p:sp>
      <p:sp>
        <p:nvSpPr>
          <p:cNvPr id="11" name="Shape 9"/>
          <p:cNvSpPr/>
          <p:nvPr/>
        </p:nvSpPr>
        <p:spPr>
          <a:xfrm>
            <a:off x="548640" y="2743200"/>
            <a:ext cx="438912" cy="438912"/>
          </a:xfrm>
          <a:prstGeom prst="ellipse">
            <a:avLst/>
          </a:prstGeom>
          <a:solidFill>
            <a:srgbClr val="10233F"/>
          </a:solidFill>
          <a:ln w="12700">
            <a:solidFill>
              <a:srgbClr val="10233F"/>
            </a:solidFill>
            <a:prstDash val="solid"/>
          </a:ln>
        </p:spPr>
      </p:sp>
      <p:sp>
        <p:nvSpPr>
          <p:cNvPr id="12" name="Text 10"/>
          <p:cNvSpPr txBox="1"/>
          <p:nvPr/>
        </p:nvSpPr>
        <p:spPr>
          <a:xfrm>
            <a:off x="548640" y="27432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27157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Normalise</a:t>
            </a:r>
            <a:endParaRPr lang="en-US" sz="1500" dirty="0"/>
          </a:p>
        </p:txBody>
      </p:sp>
      <p:sp>
        <p:nvSpPr>
          <p:cNvPr id="14" name="Text 12"/>
          <p:cNvSpPr txBox="1"/>
          <p:nvPr/>
        </p:nvSpPr>
        <p:spPr>
          <a:xfrm>
            <a:off x="2377440" y="27157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Every input percentile-ranked to 0–1 so skewed counts do not dominate</a:t>
            </a:r>
            <a:endParaRPr lang="en-US" sz="1300" dirty="0"/>
          </a:p>
        </p:txBody>
      </p:sp>
      <p:sp>
        <p:nvSpPr>
          <p:cNvPr id="15" name="Shape 13"/>
          <p:cNvSpPr/>
          <p:nvPr/>
        </p:nvSpPr>
        <p:spPr>
          <a:xfrm>
            <a:off x="548640" y="3429000"/>
            <a:ext cx="438912" cy="438912"/>
          </a:xfrm>
          <a:prstGeom prst="ellipse">
            <a:avLst/>
          </a:prstGeom>
          <a:solidFill>
            <a:srgbClr val="0B7A6F"/>
          </a:solidFill>
          <a:ln w="12700">
            <a:solidFill>
              <a:srgbClr val="0B7A6F"/>
            </a:solidFill>
            <a:prstDash val="solid"/>
          </a:ln>
        </p:spPr>
      </p:sp>
      <p:sp>
        <p:nvSpPr>
          <p:cNvPr id="16" name="Text 14"/>
          <p:cNvSpPr txBox="1"/>
          <p:nvPr/>
        </p:nvSpPr>
        <p:spPr>
          <a:xfrm>
            <a:off x="548640" y="3429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4015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Node</a:t>
            </a:r>
            <a:endParaRPr lang="en-US" sz="1500" dirty="0"/>
          </a:p>
        </p:txBody>
      </p:sp>
      <p:sp>
        <p:nvSpPr>
          <p:cNvPr id="18" name="Text 16"/>
          <p:cNvSpPr txBox="1"/>
          <p:nvPr/>
        </p:nvSpPr>
        <p:spPr>
          <a:xfrm>
            <a:off x="2377440" y="34015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149,135 ways split at shared OSM vertices: 263,746 junctions</a:t>
            </a:r>
            <a:endParaRPr lang="en-US" sz="1300" dirty="0"/>
          </a:p>
        </p:txBody>
      </p:sp>
      <p:sp>
        <p:nvSpPr>
          <p:cNvPr id="19" name="Shape 17"/>
          <p:cNvSpPr/>
          <p:nvPr/>
        </p:nvSpPr>
        <p:spPr>
          <a:xfrm>
            <a:off x="548640" y="4114800"/>
            <a:ext cx="438912" cy="438912"/>
          </a:xfrm>
          <a:prstGeom prst="ellipse">
            <a:avLst/>
          </a:prstGeom>
          <a:solidFill>
            <a:srgbClr val="0B7A6F"/>
          </a:solidFill>
          <a:ln w="12700">
            <a:solidFill>
              <a:srgbClr val="0B7A6F"/>
            </a:solidFill>
            <a:prstDash val="solid"/>
          </a:ln>
        </p:spPr>
      </p:sp>
      <p:sp>
        <p:nvSpPr>
          <p:cNvPr id="20" name="Text 18"/>
          <p:cNvSpPr txBox="1"/>
          <p:nvPr/>
        </p:nvSpPr>
        <p:spPr>
          <a:xfrm>
            <a:off x="548640" y="41148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143000" y="40873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Connect</a:t>
            </a:r>
            <a:endParaRPr lang="en-US" sz="1500" dirty="0"/>
          </a:p>
        </p:txBody>
      </p:sp>
      <p:sp>
        <p:nvSpPr>
          <p:cNvPr id="22" name="Text 20"/>
          <p:cNvSpPr txBox="1"/>
          <p:nvPr/>
        </p:nvSpPr>
        <p:spPr>
          <a:xfrm>
            <a:off x="2377440" y="40873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Largest connected component kept: 99.6% of junctions</a:t>
            </a:r>
            <a:endParaRPr lang="en-US" sz="1300" dirty="0"/>
          </a:p>
        </p:txBody>
      </p:sp>
      <p:sp>
        <p:nvSpPr>
          <p:cNvPr id="23" name="Shape 21"/>
          <p:cNvSpPr/>
          <p:nvPr/>
        </p:nvSpPr>
        <p:spPr>
          <a:xfrm>
            <a:off x="548640" y="4800600"/>
            <a:ext cx="438912" cy="438912"/>
          </a:xfrm>
          <a:prstGeom prst="ellipse">
            <a:avLst/>
          </a:prstGeom>
          <a:solidFill>
            <a:srgbClr val="0B7A6F"/>
          </a:solidFill>
          <a:ln w="12700">
            <a:solidFill>
              <a:srgbClr val="0B7A6F"/>
            </a:solidFill>
            <a:prstDash val="solid"/>
          </a:ln>
        </p:spPr>
      </p:sp>
      <p:sp>
        <p:nvSpPr>
          <p:cNvPr id="24" name="Text 22"/>
          <p:cNvSpPr txBox="1"/>
          <p:nvPr/>
        </p:nvSpPr>
        <p:spPr>
          <a:xfrm>
            <a:off x="548640" y="48006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1143000" y="47731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Simplify</a:t>
            </a:r>
            <a:endParaRPr lang="en-US" sz="1500" dirty="0"/>
          </a:p>
        </p:txBody>
      </p:sp>
      <p:sp>
        <p:nvSpPr>
          <p:cNvPr id="26" name="Text 24"/>
          <p:cNvSpPr txBox="1"/>
          <p:nvPr/>
        </p:nvSpPr>
        <p:spPr>
          <a:xfrm>
            <a:off x="2377440" y="47731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Same-class chains merged, geometry simplified to 6 m: 246,003 junctions, 345,601 segments</a:t>
            </a:r>
            <a:endParaRPr lang="en-US" sz="1300" dirty="0"/>
          </a:p>
        </p:txBody>
      </p:sp>
      <p:sp>
        <p:nvSpPr>
          <p:cNvPr id="27" name="Shape 25"/>
          <p:cNvSpPr/>
          <p:nvPr/>
        </p:nvSpPr>
        <p:spPr>
          <a:xfrm>
            <a:off x="548640" y="5486400"/>
            <a:ext cx="438912" cy="438912"/>
          </a:xfrm>
          <a:prstGeom prst="ellipse">
            <a:avLst/>
          </a:prstGeom>
          <a:solidFill>
            <a:srgbClr val="0B7A6F"/>
          </a:solidFill>
          <a:ln w="12700">
            <a:solidFill>
              <a:srgbClr val="0B7A6F"/>
            </a:solidFill>
            <a:prstDash val="solid"/>
          </a:ln>
        </p:spPr>
      </p:sp>
      <p:sp>
        <p:nvSpPr>
          <p:cNvPr id="28" name="Text 26"/>
          <p:cNvSpPr txBox="1"/>
          <p:nvPr/>
        </p:nvSpPr>
        <p:spPr>
          <a:xfrm>
            <a:off x="548640" y="54864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Text 27"/>
          <p:cNvSpPr txBox="1"/>
          <p:nvPr/>
        </p:nvSpPr>
        <p:spPr>
          <a:xfrm>
            <a:off x="1143000" y="5458968"/>
            <a:ext cx="128016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Snap</a:t>
            </a:r>
            <a:endParaRPr lang="en-US" sz="1500" dirty="0"/>
          </a:p>
        </p:txBody>
      </p:sp>
      <p:sp>
        <p:nvSpPr>
          <p:cNvPr id="30" name="Text 28"/>
          <p:cNvSpPr txBox="1"/>
          <p:nvPr/>
        </p:nvSpPr>
        <p:spPr>
          <a:xfrm>
            <a:off x="2377440" y="5458968"/>
            <a:ext cx="374904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Each cell centre snapped to its nearest junction: median 61 m; 124 cells over 500 m from a road</a:t>
            </a:r>
            <a:endParaRPr lang="en-US" sz="1300" dirty="0"/>
          </a:p>
        </p:txBody>
      </p:sp>
      <p:pic>
        <p:nvPicPr>
          <p:cNvPr id="31" name="Image 0" descr="f_graph.png">    </p:cNvPr>
          <p:cNvPicPr>
            <a:picLocks noChangeAspect="1"/>
          </p:cNvPicPr>
          <p:nvPr/>
        </p:nvPicPr>
        <p:blipFill>
          <a:blip r:embed="rId1"/>
          <a:stretch>
            <a:fillRect/>
          </a:stretch>
        </p:blipFill>
        <p:spPr>
          <a:xfrm>
            <a:off x="6400800" y="1525402"/>
            <a:ext cx="5257800" cy="4081517"/>
          </a:xfrm>
          <a:prstGeom prst="rect">
            <a:avLst/>
          </a:prstGeom>
        </p:spPr>
      </p:pic>
      <p:sp>
        <p:nvSpPr>
          <p:cNvPr id="32" name="Text 29"/>
          <p:cNvSpPr txBox="1"/>
          <p:nvPr/>
        </p:nvSpPr>
        <p:spPr>
          <a:xfrm>
            <a:off x="6400800" y="5698358"/>
            <a:ext cx="5257800" cy="274320"/>
          </a:xfrm>
          <a:prstGeom prst="rect">
            <a:avLst/>
          </a:prstGeom>
          <a:noFill/>
          <a:ln/>
        </p:spPr>
        <p:txBody>
          <a:bodyPr wrap="square" lIns="0" tIns="0" rIns="0" bIns="0" rtlCol="0" anchor="t"/>
          <a:lstStyle/>
          <a:p>
            <a:pPr algn="ctr" indent="0" marL="0">
              <a:buNone/>
            </a:pPr>
            <a:r>
              <a:rPr lang="en-US" sz="1100" dirty="0">
                <a:solidFill>
                  <a:srgbClr val="6B788B"/>
                </a:solidFill>
                <a:latin typeface="Calibri" pitchFamily="34" charset="0"/>
                <a:ea typeface="Calibri" pitchFamily="34" charset="-122"/>
                <a:cs typeface="Calibri" pitchFamily="34" charset="-120"/>
              </a:rPr>
              <a:t>Junction graph around Connaught Place</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515600" cy="109728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02  Scoring and screening</a:t>
            </a:r>
            <a:endParaRPr lang="en-US" sz="4000" dirty="0"/>
          </a:p>
        </p:txBody>
      </p:sp>
      <p:sp>
        <p:nvSpPr>
          <p:cNvPr id="3" name="Text 0"/>
          <p:cNvSpPr/>
          <p:nvPr>
            <p:ph idx="101" type="body" hasCustomPrompt="1"/>
          </p:nvPr>
        </p:nvSpPr>
        <p:spPr>
          <a:xfrm>
            <a:off x="640080" y="3886200"/>
            <a:ext cx="960120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Seven sub-indices describe each cell; a weighted blend gives the suitability score the optimiser maximises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Seven sub-indices, each on a 0–1 scale</a:t>
            </a:r>
            <a:endParaRPr lang="en-US" sz="3000" dirty="0"/>
          </a:p>
        </p:txBody>
      </p:sp>
      <p:pic>
        <p:nvPicPr>
          <p:cNvPr id="3" name="Image 0" descr="f_indices.png">    </p:cNvPr>
          <p:cNvPicPr>
            <a:picLocks noChangeAspect="1"/>
          </p:cNvPicPr>
          <p:nvPr/>
        </p:nvPicPr>
        <p:blipFill>
          <a:blip r:embed="rId1"/>
          <a:stretch>
            <a:fillRect/>
          </a:stretch>
        </p:blipFill>
        <p:spPr>
          <a:xfrm>
            <a:off x="1384127" y="1188720"/>
            <a:ext cx="9393266" cy="5074920"/>
          </a:xfrm>
          <a:prstGeom prst="rect">
            <a:avLst/>
          </a:prstGeom>
        </p:spPr>
      </p:pic>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Suitability score, site screening and weight scenarios</a:t>
            </a:r>
            <a:endParaRPr lang="en-US" sz="3000" dirty="0"/>
          </a:p>
        </p:txBody>
      </p:sp>
      <p:sp>
        <p:nvSpPr>
          <p:cNvPr id="3" name="formula"/>
          <p:cNvSpPr/>
          <p:nvPr/>
        </p:nvSpPr>
        <p:spPr>
          <a:xfrm>
            <a:off x="548640" y="1371600"/>
            <a:ext cx="5577840" cy="1463040"/>
          </a:xfrm>
          <a:prstGeom prst="roundRect">
            <a:avLst>
              <a:gd name="adj" fmla="val 5000"/>
            </a:avLst>
          </a:prstGeom>
          <a:solidFill>
            <a:srgbClr val="10233F"/>
          </a:solidFill>
          <a:ln w="12700">
            <a:solidFill>
              <a:srgbClr val="10233F"/>
            </a:solidFill>
            <a:prstDash val="solid"/>
          </a:ln>
        </p:spPr>
      </p:sp>
      <p:sp>
        <p:nvSpPr>
          <p:cNvPr id="4" name="Text 2"/>
          <p:cNvSpPr txBox="1"/>
          <p:nvPr/>
        </p:nvSpPr>
        <p:spPr>
          <a:xfrm>
            <a:off x="822960" y="1536192"/>
            <a:ext cx="4572000" cy="27432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SUITABILITY</a:t>
            </a:r>
            <a:endParaRPr lang="en-US" sz="1200" dirty="0"/>
          </a:p>
        </p:txBody>
      </p:sp>
      <p:sp>
        <p:nvSpPr>
          <p:cNvPr id="5" name="Text 3"/>
          <p:cNvSpPr txBox="1"/>
          <p:nvPr/>
        </p:nvSpPr>
        <p:spPr>
          <a:xfrm>
            <a:off x="822960" y="1874520"/>
            <a:ext cx="5120640" cy="6400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 = 0.35 D + 0.25 A + 0.25 F + 0.10 G + 0.05 E</a:t>
            </a:r>
            <a:endParaRPr lang="en-US" sz="2000" dirty="0"/>
          </a:p>
        </p:txBody>
      </p:sp>
      <p:sp>
        <p:nvSpPr>
          <p:cNvPr id="6" name="Text 4"/>
          <p:cNvSpPr txBox="1"/>
          <p:nvPr/>
        </p:nvSpPr>
        <p:spPr>
          <a:xfrm>
            <a:off x="548640" y="3108960"/>
            <a:ext cx="54864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Hard screens for a hub site</a:t>
            </a:r>
            <a:endParaRPr lang="en-US" sz="1800" dirty="0"/>
          </a:p>
        </p:txBody>
      </p:sp>
      <p:sp>
        <p:nvSpPr>
          <p:cNvPr id="7" name="Text 5"/>
          <p:cNvSpPr txBox="1"/>
          <p:nvPr/>
        </p:nvSpPr>
        <p:spPr>
          <a:xfrm>
            <a:off x="685800" y="3566160"/>
            <a:ext cx="29260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Built-up share ≥ 10 %</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Road length in the cell ≥ 3 km</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Water share &lt; 25 %</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Not in the steepest 3 % of cells</a:t>
            </a:r>
            <a:endParaRPr lang="en-US" sz="1500" dirty="0"/>
          </a:p>
        </p:txBody>
      </p:sp>
      <p:sp>
        <p:nvSpPr>
          <p:cNvPr id="8" name="Text 6"/>
          <p:cNvSpPr txBox="1"/>
          <p:nvPr/>
        </p:nvSpPr>
        <p:spPr>
          <a:xfrm>
            <a:off x="3749040" y="3520440"/>
            <a:ext cx="2377440" cy="685800"/>
          </a:xfrm>
          <a:prstGeom prst="rect">
            <a:avLst/>
          </a:prstGeom>
          <a:noFill/>
          <a:ln/>
        </p:spPr>
        <p:txBody>
          <a:bodyPr wrap="square" lIns="0" tIns="0" rIns="0" bIns="0" rtlCol="0" anchor="b"/>
          <a:lstStyle/>
          <a:p>
            <a:pPr indent="0" marL="0">
              <a:buNone/>
            </a:pPr>
            <a:r>
              <a:rPr lang="en-US" sz="3600" b="1" dirty="0">
                <a:solidFill>
                  <a:srgbClr val="0B7A6F"/>
                </a:solidFill>
                <a:latin typeface="Cambria" pitchFamily="34" charset="0"/>
                <a:ea typeface="Cambria" pitchFamily="34" charset="-122"/>
                <a:cs typeface="Cambria" pitchFamily="34" charset="-120"/>
              </a:rPr>
              <a:t>1,563</a:t>
            </a:r>
            <a:endParaRPr lang="en-US" sz="3600" dirty="0"/>
          </a:p>
        </p:txBody>
      </p:sp>
      <p:sp>
        <p:nvSpPr>
          <p:cNvPr id="9" name="Text 7"/>
          <p:cNvSpPr txBox="1"/>
          <p:nvPr/>
        </p:nvSpPr>
        <p:spPr>
          <a:xfrm>
            <a:off x="3749040" y="4251960"/>
            <a:ext cx="237744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2,227 cells pass and can host a hub</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120640" cy="914400"/>
        </p:xfrm>
        <a:graphic>
          <a:graphicData uri="http://schemas.openxmlformats.org/drawingml/2006/table">
            <a:tbl>
              <a:tblPr/>
              <a:tblGrid>
                <a:gridCol w="2148840"/>
                <a:gridCol w="594360"/>
                <a:gridCol w="594360"/>
                <a:gridCol w="594360"/>
                <a:gridCol w="594360"/>
                <a:gridCol w="5943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r>
              <a:tr h="457200">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Balanced</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57200">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Demand-led</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57200">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Safety-first</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57200">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Equity &amp; white-space</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algn="l" indent="0" marL="0">
                        <a:buNone/>
                      </a:pPr>
                      <a:r>
                        <a:rPr lang="en-US" sz="1400" dirty="0">
                          <a:solidFill>
                            <a:srgbClr val="10233F"/>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11" name="Text 8"/>
          <p:cNvSpPr txBox="1"/>
          <p:nvPr/>
        </p:nvSpPr>
        <p:spPr>
          <a:xfrm>
            <a:off x="6492240" y="3931920"/>
            <a:ext cx="512064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balanced weights set the base plan. The other three test whether hub locations depend on the weighting (see Robustness).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515600" cy="109728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03  Optimisation on the road network</a:t>
            </a:r>
            <a:endParaRPr lang="en-US" sz="4000" dirty="0"/>
          </a:p>
        </p:txBody>
      </p:sp>
      <p:sp>
        <p:nvSpPr>
          <p:cNvPr id="3" name="Text 0"/>
          <p:cNvSpPr/>
          <p:nvPr>
            <p:ph idx="101" type="body" hasCustomPrompt="1"/>
          </p:nvPr>
        </p:nvSpPr>
        <p:spPr>
          <a:xfrm>
            <a:off x="640080" y="3886200"/>
            <a:ext cx="960120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Hub siting, battery-swap stations, calm corridors and van loops, all measured by road distance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hub serves cells within 1.5 km by road</a:t>
            </a:r>
            <a:endParaRPr lang="en-US" sz="3000" dirty="0"/>
          </a:p>
        </p:txBody>
      </p:sp>
      <p:pic>
        <p:nvPicPr>
          <p:cNvPr id="3" name="Image 0" descr="f_catch.png">    </p:cNvPr>
          <p:cNvPicPr>
            <a:picLocks noChangeAspect="1"/>
          </p:cNvPicPr>
          <p:nvPr/>
        </p:nvPicPr>
        <p:blipFill>
          <a:blip r:embed="rId1"/>
          <a:stretch>
            <a:fillRect/>
          </a:stretch>
        </p:blipFill>
        <p:spPr>
          <a:xfrm>
            <a:off x="663418" y="1280160"/>
            <a:ext cx="5805484" cy="4937760"/>
          </a:xfrm>
          <a:prstGeom prst="rect">
            <a:avLst/>
          </a:prstGeom>
        </p:spPr>
      </p:pic>
      <p:sp>
        <p:nvSpPr>
          <p:cNvPr id="4" name="Text 1"/>
          <p:cNvSpPr txBox="1"/>
          <p:nvPr/>
        </p:nvSpPr>
        <p:spPr>
          <a:xfrm>
            <a:off x="6949440" y="1463040"/>
            <a:ext cx="466344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Each cell centre is snapped to the road graph</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Road distance between cell centres = snap distance + shortest path + snap distance</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Cell i is covered by a hub in cell j when that distance ≤ 1.5 km</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Computed with Dijkstra from every cell (SciPy, 1.55 km search limit)</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On average a hub covers 3.6 cells (about 2.4 km²)</a:t>
            </a:r>
            <a:endParaRPr lang="en-US" sz="1500" dirty="0"/>
          </a:p>
        </p:txBody>
      </p:sp>
      <p:sp>
        <p:nvSpPr>
          <p:cNvPr id="5" name="why"/>
          <p:cNvSpPr/>
          <p:nvPr/>
        </p:nvSpPr>
        <p:spPr>
          <a:xfrm>
            <a:off x="6949440" y="4846320"/>
            <a:ext cx="4663440" cy="1188720"/>
          </a:xfrm>
          <a:prstGeom prst="roundRect">
            <a:avLst>
              <a:gd name="adj" fmla="val 6154"/>
            </a:avLst>
          </a:prstGeom>
          <a:solidFill>
            <a:srgbClr val="EEF1F5"/>
          </a:solidFill>
          <a:ln w="12700">
            <a:solidFill>
              <a:srgbClr val="EEF1F5"/>
            </a:solidFill>
            <a:prstDash val="solid"/>
          </a:ln>
        </p:spPr>
      </p:sp>
      <p:sp>
        <p:nvSpPr>
          <p:cNvPr id="6" name="Text 3"/>
          <p:cNvSpPr txBox="1"/>
          <p:nvPr/>
        </p:nvSpPr>
        <p:spPr>
          <a:xfrm>
            <a:off x="7178040" y="4983480"/>
            <a:ext cx="4297680" cy="96012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Why road distance: a river, rail line or arterial can make a neighbouring cell far to reach even when it is close in a straight line.</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Hub siting: maximal covering location model</a:t>
            </a:r>
            <a:endParaRPr lang="en-US" sz="3000" dirty="0"/>
          </a:p>
        </p:txBody>
      </p:sp>
      <p:sp>
        <p:nvSpPr>
          <p:cNvPr id="3" name="mclp"/>
          <p:cNvSpPr/>
          <p:nvPr/>
        </p:nvSpPr>
        <p:spPr>
          <a:xfrm>
            <a:off x="548640" y="1371600"/>
            <a:ext cx="4937760" cy="3017520"/>
          </a:xfrm>
          <a:prstGeom prst="roundRect">
            <a:avLst>
              <a:gd name="adj" fmla="val 2424"/>
            </a:avLst>
          </a:prstGeom>
          <a:solidFill>
            <a:srgbClr val="10233F"/>
          </a:solidFill>
          <a:ln w="12700">
            <a:solidFill>
              <a:srgbClr val="10233F"/>
            </a:solidFill>
            <a:prstDash val="solid"/>
          </a:ln>
        </p:spPr>
      </p:sp>
      <p:sp>
        <p:nvSpPr>
          <p:cNvPr id="4" name="Text 2"/>
          <p:cNvSpPr txBox="1"/>
          <p:nvPr/>
        </p:nvSpPr>
        <p:spPr>
          <a:xfrm>
            <a:off x="822960" y="1536192"/>
            <a:ext cx="3657600" cy="27432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FORMULATION</a:t>
            </a:r>
            <a:endParaRPr lang="en-US" sz="1200" dirty="0"/>
          </a:p>
        </p:txBody>
      </p:sp>
      <p:sp>
        <p:nvSpPr>
          <p:cNvPr id="5" name="Text 3"/>
          <p:cNvSpPr txBox="1"/>
          <p:nvPr/>
        </p:nvSpPr>
        <p:spPr>
          <a:xfrm>
            <a:off x="822960" y="1920240"/>
            <a:ext cx="4572000" cy="228600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mbria" pitchFamily="34" charset="0"/>
                <a:ea typeface="Cambria" pitchFamily="34" charset="-122"/>
                <a:cs typeface="Cambria" pitchFamily="34" charset="-120"/>
              </a:rPr>
              <a:t>maximise  Σᵢ wᵢ yᵢ</a:t>
            </a:r>
            <a:endParaRPr lang="en-US" sz="1800" dirty="0"/>
          </a:p>
          <a:p>
            <a:pPr indent="0" marL="0">
              <a:spcAft>
                <a:spcPts val="600"/>
              </a:spcAft>
              <a:buNone/>
            </a:pPr>
            <a:r>
              <a:rPr lang="en-US" sz="1800" dirty="0">
                <a:solidFill>
                  <a:srgbClr val="FFFFFF"/>
                </a:solidFill>
                <a:latin typeface="Cambria" pitchFamily="34" charset="0"/>
                <a:ea typeface="Cambria" pitchFamily="34" charset="-122"/>
                <a:cs typeface="Cambria" pitchFamily="34" charset="-120"/>
              </a:rPr>
              <a:t>subject to  yᵢ ≤ Σⱼ∈Nᵢ xⱼ</a:t>
            </a:r>
            <a:endParaRPr lang="en-US" sz="1800" dirty="0"/>
          </a:p>
          <a:p>
            <a:pPr indent="0" marL="0">
              <a:spcAft>
                <a:spcPts val="600"/>
              </a:spcAft>
              <a:buNone/>
            </a:pPr>
            <a:r>
              <a:rPr lang="en-US" sz="1800" dirty="0">
                <a:solidFill>
                  <a:srgbClr val="FFFFFF"/>
                </a:solidFill>
                <a:latin typeface="Cambria" pitchFamily="34" charset="0"/>
                <a:ea typeface="Cambria" pitchFamily="34" charset="-122"/>
                <a:cs typeface="Cambria" pitchFamily="34" charset="-120"/>
              </a:rPr>
              <a:t>Σⱼ xⱼ = p,   xⱼ ∈ {0,1},  0 ≤ yᵢ ≤ 1</a:t>
            </a:r>
            <a:endParaRPr lang="en-US" sz="1800" dirty="0"/>
          </a:p>
          <a:p>
            <a:pPr indent="0" marL="0">
              <a:spcAft>
                <a:spcPts val="600"/>
              </a:spcAft>
              <a:buNone/>
            </a:pPr>
            <a:r>
              <a:rPr lang="en-US" sz="1400" dirty="0">
                <a:solidFill>
                  <a:srgbClr val="C9D2DC"/>
                </a:solidFill>
                <a:latin typeface="Cambria" pitchFamily="34" charset="0"/>
                <a:ea typeface="Cambria" pitchFamily="34" charset="-122"/>
                <a:cs typeface="Cambria" pitchFamily="34" charset="-120"/>
              </a:rPr>
              <a:t>wᵢ = suitability × trip potential of cell i</a:t>
            </a:r>
            <a:endParaRPr lang="en-US" sz="1800" dirty="0"/>
          </a:p>
          <a:p>
            <a:pPr indent="0" marL="0">
              <a:spcAft>
                <a:spcPts val="600"/>
              </a:spcAft>
              <a:buNone/>
            </a:pPr>
            <a:r>
              <a:rPr lang="en-US" sz="1400" dirty="0">
                <a:solidFill>
                  <a:srgbClr val="C9D2DC"/>
                </a:solidFill>
                <a:latin typeface="Cambria" pitchFamily="34" charset="0"/>
                <a:ea typeface="Cambria" pitchFamily="34" charset="-122"/>
                <a:cs typeface="Cambria" pitchFamily="34" charset="-120"/>
              </a:rPr>
              <a:t>Nᵢ = eligible cells within 1.5 km by road</a:t>
            </a:r>
            <a:endParaRPr lang="en-US" sz="1800" dirty="0"/>
          </a:p>
        </p:txBody>
      </p:sp>
      <p:sp>
        <p:nvSpPr>
          <p:cNvPr id="6" name="Text 4"/>
          <p:cNvSpPr txBox="1"/>
          <p:nvPr/>
        </p:nvSpPr>
        <p:spPr>
          <a:xfrm>
            <a:off x="685800" y="4617720"/>
            <a:ext cx="48463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Solved exactly with HiGHS: 77.5% of weighted demand covered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Greedy heuristic: 75.6% (used for live re-runs in the app)</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p = 148: the first hub that adds under 0.2 %</a:t>
            </a:r>
            <a:endParaRPr lang="en-US" sz="1400" dirty="0"/>
          </a:p>
        </p:txBody>
      </p:sp>
      <p:graphicFrame>
        <p:nvGraphicFramePr>
          <p:cNvPr id="7" name="Chart 0" descr=""/>
          <p:cNvGraphicFramePr/>
          <p:nvPr/>
        </p:nvGraphicFramePr>
        <p:xfrm>
          <a:off x="5852160" y="1325880"/>
          <a:ext cx="576072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Result: 148 hubs and 25 swap stations</a:t>
            </a:r>
            <a:endParaRPr lang="en-US" sz="3000" dirty="0"/>
          </a:p>
        </p:txBody>
      </p:sp>
      <p:pic>
        <p:nvPicPr>
          <p:cNvPr id="3" name="Image 0" descr="f_network.png">    </p:cNvPr>
          <p:cNvPicPr>
            <a:picLocks noChangeAspect="1"/>
          </p:cNvPicPr>
          <p:nvPr/>
        </p:nvPicPr>
        <p:blipFill>
          <a:blip r:embed="rId1"/>
          <a:stretch>
            <a:fillRect/>
          </a:stretch>
        </p:blipFill>
        <p:spPr>
          <a:xfrm>
            <a:off x="817568" y="1188720"/>
            <a:ext cx="4857105" cy="5120640"/>
          </a:xfrm>
          <a:prstGeom prst="rect">
            <a:avLst/>
          </a:prstGeom>
        </p:spPr>
      </p:pic>
      <p:sp>
        <p:nvSpPr>
          <p:cNvPr id="4" name="Text 1"/>
          <p:cNvSpPr txBox="1"/>
          <p:nvPr/>
        </p:nvSpPr>
        <p:spPr>
          <a:xfrm>
            <a:off x="6309360" y="1325880"/>
            <a:ext cx="2514600" cy="685800"/>
          </a:xfrm>
          <a:prstGeom prst="rect">
            <a:avLst/>
          </a:prstGeom>
          <a:noFill/>
          <a:ln/>
        </p:spPr>
        <p:txBody>
          <a:bodyPr wrap="square" lIns="0" tIns="0" rIns="0" bIns="0" rtlCol="0" anchor="b"/>
          <a:lstStyle/>
          <a:p>
            <a:pPr indent="0" marL="0">
              <a:buNone/>
            </a:pPr>
            <a:r>
              <a:rPr lang="en-US" sz="3600" b="1" dirty="0">
                <a:solidFill>
                  <a:srgbClr val="0B7A6F"/>
                </a:solidFill>
                <a:latin typeface="Cambria" pitchFamily="34" charset="0"/>
                <a:ea typeface="Cambria" pitchFamily="34" charset="-122"/>
                <a:cs typeface="Cambria" pitchFamily="34" charset="-120"/>
              </a:rPr>
              <a:t>148</a:t>
            </a:r>
            <a:endParaRPr lang="en-US" sz="3600" dirty="0"/>
          </a:p>
        </p:txBody>
      </p:sp>
      <p:sp>
        <p:nvSpPr>
          <p:cNvPr id="5" name="Text 2"/>
          <p:cNvSpPr txBox="1"/>
          <p:nvPr/>
        </p:nvSpPr>
        <p:spPr>
          <a:xfrm>
            <a:off x="6309360" y="205740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hubs (exact optimum)</a:t>
            </a:r>
            <a:endParaRPr lang="en-US" sz="1300" dirty="0"/>
          </a:p>
        </p:txBody>
      </p:sp>
      <p:sp>
        <p:nvSpPr>
          <p:cNvPr id="6" name="Text 3"/>
          <p:cNvSpPr txBox="1"/>
          <p:nvPr/>
        </p:nvSpPr>
        <p:spPr>
          <a:xfrm>
            <a:off x="9006840" y="1325880"/>
            <a:ext cx="251460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68.4%</a:t>
            </a:r>
            <a:endParaRPr lang="en-US" sz="3600" dirty="0"/>
          </a:p>
        </p:txBody>
      </p:sp>
      <p:sp>
        <p:nvSpPr>
          <p:cNvPr id="7" name="Text 4"/>
          <p:cNvSpPr txBox="1"/>
          <p:nvPr/>
        </p:nvSpPr>
        <p:spPr>
          <a:xfrm>
            <a:off x="9006840" y="205740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residents within 1.5 km of a hub by road</a:t>
            </a:r>
            <a:endParaRPr lang="en-US" sz="1300" dirty="0"/>
          </a:p>
        </p:txBody>
      </p:sp>
      <p:sp>
        <p:nvSpPr>
          <p:cNvPr id="8" name="Text 5"/>
          <p:cNvSpPr txBox="1"/>
          <p:nvPr/>
        </p:nvSpPr>
        <p:spPr>
          <a:xfrm>
            <a:off x="6309360" y="2971800"/>
            <a:ext cx="251460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51,893</a:t>
            </a:r>
            <a:endParaRPr lang="en-US" sz="3600" dirty="0"/>
          </a:p>
        </p:txBody>
      </p:sp>
      <p:sp>
        <p:nvSpPr>
          <p:cNvPr id="9" name="Text 6"/>
          <p:cNvSpPr txBox="1"/>
          <p:nvPr/>
        </p:nvSpPr>
        <p:spPr>
          <a:xfrm>
            <a:off x="6309360" y="370332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trips a day captured, of 70,273 potential</a:t>
            </a:r>
            <a:endParaRPr lang="en-US" sz="1300" dirty="0"/>
          </a:p>
        </p:txBody>
      </p:sp>
      <p:sp>
        <p:nvSpPr>
          <p:cNvPr id="10" name="Text 7"/>
          <p:cNvSpPr txBox="1"/>
          <p:nvPr/>
        </p:nvSpPr>
        <p:spPr>
          <a:xfrm>
            <a:off x="9006840" y="2971800"/>
            <a:ext cx="251460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10,451</a:t>
            </a:r>
            <a:endParaRPr lang="en-US" sz="3600" dirty="0"/>
          </a:p>
        </p:txBody>
      </p:sp>
      <p:sp>
        <p:nvSpPr>
          <p:cNvPr id="11" name="Text 8"/>
          <p:cNvSpPr txBox="1"/>
          <p:nvPr/>
        </p:nvSpPr>
        <p:spPr>
          <a:xfrm>
            <a:off x="9006840" y="370332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e-bikes at 5 trips per bike a day</a:t>
            </a:r>
            <a:endParaRPr lang="en-US" sz="1300" dirty="0"/>
          </a:p>
        </p:txBody>
      </p:sp>
      <p:sp>
        <p:nvSpPr>
          <p:cNvPr id="12" name="Text 9"/>
          <p:cNvSpPr txBox="1"/>
          <p:nvPr/>
        </p:nvSpPr>
        <p:spPr>
          <a:xfrm>
            <a:off x="6309360" y="4617720"/>
            <a:ext cx="251460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65.0%</a:t>
            </a:r>
            <a:endParaRPr lang="en-US" sz="3600" dirty="0"/>
          </a:p>
        </p:txBody>
      </p:sp>
      <p:sp>
        <p:nvSpPr>
          <p:cNvPr id="13" name="Text 10"/>
          <p:cNvSpPr txBox="1"/>
          <p:nvPr/>
        </p:nvSpPr>
        <p:spPr>
          <a:xfrm>
            <a:off x="6309360" y="534924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of high-demand cells covered</a:t>
            </a:r>
            <a:endParaRPr lang="en-US" sz="1300" dirty="0"/>
          </a:p>
        </p:txBody>
      </p:sp>
      <p:sp>
        <p:nvSpPr>
          <p:cNvPr id="14" name="Text 11"/>
          <p:cNvSpPr txBox="1"/>
          <p:nvPr/>
        </p:nvSpPr>
        <p:spPr>
          <a:xfrm>
            <a:off x="9006840" y="4617720"/>
            <a:ext cx="2514600" cy="685800"/>
          </a:xfrm>
          <a:prstGeom prst="rect">
            <a:avLst/>
          </a:prstGeom>
          <a:noFill/>
          <a:ln/>
        </p:spPr>
        <p:txBody>
          <a:bodyPr wrap="square" lIns="0" tIns="0" rIns="0" bIns="0" rtlCol="0" anchor="b"/>
          <a:lstStyle/>
          <a:p>
            <a:pPr indent="0" marL="0">
              <a:buNone/>
            </a:pPr>
            <a:r>
              <a:rPr lang="en-US" sz="3600" b="1" dirty="0">
                <a:solidFill>
                  <a:srgbClr val="10233F"/>
                </a:solidFill>
                <a:latin typeface="Cambria" pitchFamily="34" charset="0"/>
                <a:ea typeface="Cambria" pitchFamily="34" charset="-122"/>
                <a:cs typeface="Cambria" pitchFamily="34" charset="-120"/>
              </a:rPr>
              <a:t>25</a:t>
            </a:r>
            <a:endParaRPr lang="en-US" sz="3600" dirty="0"/>
          </a:p>
        </p:txBody>
      </p:sp>
      <p:sp>
        <p:nvSpPr>
          <p:cNvPr id="15" name="Text 12"/>
          <p:cNvSpPr txBox="1"/>
          <p:nvPr/>
        </p:nvSpPr>
        <p:spPr>
          <a:xfrm>
            <a:off x="9006840" y="5349240"/>
            <a:ext cx="25146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battery-swap stations</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Battery-swap stations and energy</a:t>
            </a:r>
            <a:endParaRPr lang="en-US" sz="3000" dirty="0"/>
          </a:p>
        </p:txBody>
      </p:sp>
      <p:sp>
        <p:nvSpPr>
          <p:cNvPr id="3" name="chain-0"/>
          <p:cNvSpPr/>
          <p:nvPr/>
        </p:nvSpPr>
        <p:spPr>
          <a:xfrm>
            <a:off x="548640" y="1371600"/>
            <a:ext cx="1325880" cy="1600200"/>
          </a:xfrm>
          <a:prstGeom prst="roundRect">
            <a:avLst>
              <a:gd name="adj" fmla="val 5517"/>
            </a:avLst>
          </a:prstGeom>
          <a:solidFill>
            <a:srgbClr val="EEF1F5"/>
          </a:solidFill>
          <a:ln w="12700">
            <a:solidFill>
              <a:srgbClr val="EEF1F5"/>
            </a:solidFill>
            <a:prstDash val="solid"/>
          </a:ln>
        </p:spPr>
      </p:sp>
      <p:sp>
        <p:nvSpPr>
          <p:cNvPr id="4" name="Text 2"/>
          <p:cNvSpPr txBox="1"/>
          <p:nvPr/>
        </p:nvSpPr>
        <p:spPr>
          <a:xfrm>
            <a:off x="594360" y="1463040"/>
            <a:ext cx="123444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66 Wh</a:t>
            </a:r>
            <a:endParaRPr lang="en-US" sz="1700" dirty="0"/>
          </a:p>
        </p:txBody>
      </p:sp>
      <p:sp>
        <p:nvSpPr>
          <p:cNvPr id="5" name="Text 3"/>
          <p:cNvSpPr txBox="1"/>
          <p:nvPr/>
        </p:nvSpPr>
        <p:spPr>
          <a:xfrm>
            <a:off x="621792" y="2011680"/>
            <a:ext cx="1188720" cy="86868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per trip</a:t>
            </a:r>
            <a:endParaRPr lang="en-US" sz="1100" dirty="0"/>
          </a:p>
          <a:p>
            <a:pPr algn="ctr" indent="0" marL="0">
              <a:buNone/>
            </a:pPr>
            <a:r>
              <a:rPr lang="en-US" sz="1100" dirty="0">
                <a:solidFill>
                  <a:schemeClr val="tx2"/>
                </a:solidFill>
                <a:latin typeface="Calibri" pitchFamily="34" charset="0"/>
                <a:ea typeface="Calibri" pitchFamily="34" charset="-122"/>
                <a:cs typeface="Calibri" pitchFamily="34" charset="-120"/>
              </a:rPr>
              <a:t>3 km × 22 Wh/km</a:t>
            </a:r>
            <a:endParaRPr lang="en-US" sz="1100" dirty="0"/>
          </a:p>
        </p:txBody>
      </p:sp>
      <p:sp>
        <p:nvSpPr>
          <p:cNvPr id="6" name="Shape 4"/>
          <p:cNvSpPr/>
          <p:nvPr/>
        </p:nvSpPr>
        <p:spPr>
          <a:xfrm>
            <a:off x="1883664" y="2057400"/>
            <a:ext cx="137160" cy="228600"/>
          </a:xfrm>
          <a:prstGeom prst="rightArrow">
            <a:avLst/>
          </a:prstGeom>
          <a:solidFill>
            <a:srgbClr val="0B7A6F"/>
          </a:solidFill>
          <a:ln w="12700">
            <a:solidFill>
              <a:srgbClr val="0B7A6F"/>
            </a:solidFill>
            <a:prstDash val="solid"/>
          </a:ln>
        </p:spPr>
      </p:sp>
      <p:sp>
        <p:nvSpPr>
          <p:cNvPr id="7" name="chain-1"/>
          <p:cNvSpPr/>
          <p:nvPr/>
        </p:nvSpPr>
        <p:spPr>
          <a:xfrm>
            <a:off x="2029968" y="1371600"/>
            <a:ext cx="1325880" cy="1600200"/>
          </a:xfrm>
          <a:prstGeom prst="roundRect">
            <a:avLst>
              <a:gd name="adj" fmla="val 5517"/>
            </a:avLst>
          </a:prstGeom>
          <a:solidFill>
            <a:srgbClr val="EEF1F5"/>
          </a:solidFill>
          <a:ln w="12700">
            <a:solidFill>
              <a:srgbClr val="EEF1F5"/>
            </a:solidFill>
            <a:prstDash val="solid"/>
          </a:ln>
        </p:spPr>
      </p:sp>
      <p:sp>
        <p:nvSpPr>
          <p:cNvPr id="8" name="Text 6"/>
          <p:cNvSpPr txBox="1"/>
          <p:nvPr/>
        </p:nvSpPr>
        <p:spPr>
          <a:xfrm>
            <a:off x="2075688" y="1463040"/>
            <a:ext cx="123444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12.1</a:t>
            </a:r>
            <a:endParaRPr lang="en-US" sz="1700" dirty="0"/>
          </a:p>
        </p:txBody>
      </p:sp>
      <p:sp>
        <p:nvSpPr>
          <p:cNvPr id="9" name="Text 7"/>
          <p:cNvSpPr txBox="1"/>
          <p:nvPr/>
        </p:nvSpPr>
        <p:spPr>
          <a:xfrm>
            <a:off x="2103120" y="2011680"/>
            <a:ext cx="1188720" cy="86868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trips per charge</a:t>
            </a:r>
            <a:endParaRPr lang="en-US" sz="1100" dirty="0"/>
          </a:p>
          <a:p>
            <a:pPr algn="ctr" indent="0" marL="0">
              <a:buNone/>
            </a:pPr>
            <a:r>
              <a:rPr lang="en-US" sz="1100" dirty="0">
                <a:solidFill>
                  <a:schemeClr val="tx2"/>
                </a:solidFill>
                <a:latin typeface="Calibri" pitchFamily="34" charset="0"/>
                <a:ea typeface="Calibri" pitchFamily="34" charset="-122"/>
                <a:cs typeface="Calibri" pitchFamily="34" charset="-120"/>
              </a:rPr>
              <a:t>1 kWh × 0.8 usable</a:t>
            </a:r>
            <a:endParaRPr lang="en-US" sz="1100" dirty="0"/>
          </a:p>
        </p:txBody>
      </p:sp>
      <p:sp>
        <p:nvSpPr>
          <p:cNvPr id="10" name="Shape 8"/>
          <p:cNvSpPr/>
          <p:nvPr/>
        </p:nvSpPr>
        <p:spPr>
          <a:xfrm>
            <a:off x="3364992" y="2057400"/>
            <a:ext cx="137160" cy="228600"/>
          </a:xfrm>
          <a:prstGeom prst="rightArrow">
            <a:avLst/>
          </a:prstGeom>
          <a:solidFill>
            <a:srgbClr val="0B7A6F"/>
          </a:solidFill>
          <a:ln w="12700">
            <a:solidFill>
              <a:srgbClr val="0B7A6F"/>
            </a:solidFill>
            <a:prstDash val="solid"/>
          </a:ln>
        </p:spPr>
      </p:sp>
      <p:sp>
        <p:nvSpPr>
          <p:cNvPr id="11" name="chain-2"/>
          <p:cNvSpPr/>
          <p:nvPr/>
        </p:nvSpPr>
        <p:spPr>
          <a:xfrm>
            <a:off x="3511296" y="1371600"/>
            <a:ext cx="1325880" cy="1600200"/>
          </a:xfrm>
          <a:prstGeom prst="roundRect">
            <a:avLst>
              <a:gd name="adj" fmla="val 5517"/>
            </a:avLst>
          </a:prstGeom>
          <a:solidFill>
            <a:srgbClr val="EEF1F5"/>
          </a:solidFill>
          <a:ln w="12700">
            <a:solidFill>
              <a:srgbClr val="EEF1F5"/>
            </a:solidFill>
            <a:prstDash val="solid"/>
          </a:ln>
        </p:spPr>
      </p:sp>
      <p:sp>
        <p:nvSpPr>
          <p:cNvPr id="12" name="Text 10"/>
          <p:cNvSpPr txBox="1"/>
          <p:nvPr/>
        </p:nvSpPr>
        <p:spPr>
          <a:xfrm>
            <a:off x="3557016" y="1463040"/>
            <a:ext cx="123444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4,281</a:t>
            </a:r>
            <a:endParaRPr lang="en-US" sz="1700" dirty="0"/>
          </a:p>
        </p:txBody>
      </p:sp>
      <p:sp>
        <p:nvSpPr>
          <p:cNvPr id="13" name="Text 11"/>
          <p:cNvSpPr txBox="1"/>
          <p:nvPr/>
        </p:nvSpPr>
        <p:spPr>
          <a:xfrm>
            <a:off x="3584448" y="2011680"/>
            <a:ext cx="1188720" cy="86868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swaps per day</a:t>
            </a:r>
            <a:endParaRPr lang="en-US" sz="1100" dirty="0"/>
          </a:p>
        </p:txBody>
      </p:sp>
      <p:sp>
        <p:nvSpPr>
          <p:cNvPr id="14" name="Shape 12"/>
          <p:cNvSpPr/>
          <p:nvPr/>
        </p:nvSpPr>
        <p:spPr>
          <a:xfrm>
            <a:off x="4846320" y="2057400"/>
            <a:ext cx="137160" cy="228600"/>
          </a:xfrm>
          <a:prstGeom prst="rightArrow">
            <a:avLst/>
          </a:prstGeom>
          <a:solidFill>
            <a:srgbClr val="0B7A6F"/>
          </a:solidFill>
          <a:ln w="12700">
            <a:solidFill>
              <a:srgbClr val="0B7A6F"/>
            </a:solidFill>
            <a:prstDash val="solid"/>
          </a:ln>
        </p:spPr>
      </p:sp>
      <p:sp>
        <p:nvSpPr>
          <p:cNvPr id="15" name="chain-3"/>
          <p:cNvSpPr/>
          <p:nvPr/>
        </p:nvSpPr>
        <p:spPr>
          <a:xfrm>
            <a:off x="4992624" y="1371600"/>
            <a:ext cx="1325880" cy="1600200"/>
          </a:xfrm>
          <a:prstGeom prst="roundRect">
            <a:avLst>
              <a:gd name="adj" fmla="val 5517"/>
            </a:avLst>
          </a:prstGeom>
          <a:solidFill>
            <a:srgbClr val="EEF1F5"/>
          </a:solidFill>
          <a:ln w="12700">
            <a:solidFill>
              <a:srgbClr val="EEF1F5"/>
            </a:solidFill>
            <a:prstDash val="solid"/>
          </a:ln>
        </p:spPr>
      </p:sp>
      <p:sp>
        <p:nvSpPr>
          <p:cNvPr id="16" name="Text 14"/>
          <p:cNvSpPr txBox="1"/>
          <p:nvPr/>
        </p:nvSpPr>
        <p:spPr>
          <a:xfrm>
            <a:off x="5038344" y="1463040"/>
            <a:ext cx="123444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3,804 kWh</a:t>
            </a:r>
            <a:endParaRPr lang="en-US" sz="1700" dirty="0"/>
          </a:p>
        </p:txBody>
      </p:sp>
      <p:sp>
        <p:nvSpPr>
          <p:cNvPr id="17" name="Text 15"/>
          <p:cNvSpPr txBox="1"/>
          <p:nvPr/>
        </p:nvSpPr>
        <p:spPr>
          <a:xfrm>
            <a:off x="5065776" y="2011680"/>
            <a:ext cx="1188720" cy="86868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charging per day</a:t>
            </a:r>
            <a:endParaRPr lang="en-US" sz="1100" dirty="0"/>
          </a:p>
          <a:p>
            <a:pPr algn="ctr" indent="0" marL="0">
              <a:buNone/>
            </a:pPr>
            <a:r>
              <a:rPr lang="en-US" sz="1100" dirty="0">
                <a:solidFill>
                  <a:schemeClr val="tx2"/>
                </a:solidFill>
                <a:latin typeface="Calibri" pitchFamily="34" charset="0"/>
                <a:ea typeface="Calibri" pitchFamily="34" charset="-122"/>
                <a:cs typeface="Calibri" pitchFamily="34" charset="-120"/>
              </a:rPr>
              <a:t>at 90 % efficiency</a:t>
            </a:r>
            <a:endParaRPr lang="en-US" sz="1100" dirty="0"/>
          </a:p>
        </p:txBody>
      </p:sp>
      <p:sp>
        <p:nvSpPr>
          <p:cNvPr id="18" name="Text 16"/>
          <p:cNvSpPr txBox="1"/>
          <p:nvPr/>
        </p:nvSpPr>
        <p:spPr>
          <a:xfrm>
            <a:off x="548640" y="3200400"/>
            <a:ext cx="54864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Capacitated p-median</a:t>
            </a:r>
            <a:endParaRPr lang="en-US" sz="1800" dirty="0"/>
          </a:p>
        </p:txBody>
      </p:sp>
      <p:sp>
        <p:nvSpPr>
          <p:cNvPr id="19" name="Text 17"/>
          <p:cNvSpPr txBox="1"/>
          <p:nvPr/>
        </p:nvSpPr>
        <p:spPr>
          <a:xfrm>
            <a:off x="685800" y="3611880"/>
            <a:ext cx="557784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Minimise Σ swaps × road distance from hub to station</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Each hub served by exactly one station within 4 km by road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No station over 400 swaps a day; candidates in the top 60 % of battery feasibility</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Result: 25 stations, mean 2.52 km hub-to-station</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Van loops solved on road distance (nearest neighbour + 2-opt): 430 km a day</a:t>
            </a:r>
            <a:endParaRPr lang="en-US" sz="1400" dirty="0"/>
          </a:p>
        </p:txBody>
      </p:sp>
      <p:pic>
        <p:nvPicPr>
          <p:cNvPr id="20" name="Image 0" descr="f_battery.png">    </p:cNvPr>
          <p:cNvPicPr>
            <a:picLocks noChangeAspect="1"/>
          </p:cNvPicPr>
          <p:nvPr/>
        </p:nvPicPr>
        <p:blipFill>
          <a:blip r:embed="rId1"/>
          <a:stretch>
            <a:fillRect/>
          </a:stretch>
        </p:blipFill>
        <p:spPr>
          <a:xfrm>
            <a:off x="6624008" y="1188720"/>
            <a:ext cx="4857105" cy="5120640"/>
          </a:xfrm>
          <a:prstGeom prst="rect">
            <a:avLst/>
          </a:prstGeom>
        </p:spPr>
      </p:pic>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Calm corridors and route planning on the road network</a:t>
            </a:r>
            <a:endParaRPr lang="en-US" sz="3000" dirty="0"/>
          </a:p>
        </p:txBody>
      </p:sp>
      <p:sp>
        <p:nvSpPr>
          <p:cNvPr id="3" name="cost"/>
          <p:cNvSpPr/>
          <p:nvPr/>
        </p:nvSpPr>
        <p:spPr>
          <a:xfrm>
            <a:off x="548640" y="1371600"/>
            <a:ext cx="5120640" cy="1417320"/>
          </a:xfrm>
          <a:prstGeom prst="roundRect">
            <a:avLst>
              <a:gd name="adj" fmla="val 5161"/>
            </a:avLst>
          </a:prstGeom>
          <a:solidFill>
            <a:srgbClr val="10233F"/>
          </a:solidFill>
          <a:ln w="12700">
            <a:solidFill>
              <a:srgbClr val="10233F"/>
            </a:solidFill>
            <a:prstDash val="solid"/>
          </a:ln>
        </p:spPr>
      </p:sp>
      <p:sp>
        <p:nvSpPr>
          <p:cNvPr id="4" name="Text 2"/>
          <p:cNvSpPr txBox="1"/>
          <p:nvPr/>
        </p:nvSpPr>
        <p:spPr>
          <a:xfrm>
            <a:off x="822960" y="1508760"/>
            <a:ext cx="4572000" cy="27432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E-BIKE ROUTE COST PER SEGMENT</a:t>
            </a:r>
            <a:endParaRPr lang="en-US" sz="1200" dirty="0"/>
          </a:p>
        </p:txBody>
      </p:sp>
      <p:sp>
        <p:nvSpPr>
          <p:cNvPr id="5" name="Text 3"/>
          <p:cNvSpPr txBox="1"/>
          <p:nvPr/>
        </p:nvSpPr>
        <p:spPr>
          <a:xfrm>
            <a:off x="822960" y="1828800"/>
            <a:ext cx="475488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length × (1 + 1.5·high-stress) × class factor</a:t>
            </a:r>
            <a:endParaRPr lang="en-US" sz="1900" dirty="0"/>
          </a:p>
        </p:txBody>
      </p:sp>
      <p:sp>
        <p:nvSpPr>
          <p:cNvPr id="6" name="Text 4"/>
          <p:cNvSpPr txBox="1"/>
          <p:nvPr/>
        </p:nvSpPr>
        <p:spPr>
          <a:xfrm>
            <a:off x="822960" y="2286000"/>
            <a:ext cx="4754880" cy="365760"/>
          </a:xfrm>
          <a:prstGeom prst="rect">
            <a:avLst/>
          </a:prstGeom>
          <a:noFill/>
          <a:ln/>
        </p:spPr>
        <p:txBody>
          <a:bodyPr wrap="square" lIns="0" tIns="0" rIns="0" bIns="0" rtlCol="0" anchor="t"/>
          <a:lstStyle/>
          <a:p>
            <a:pPr indent="0" marL="0">
              <a:buNone/>
            </a:pPr>
            <a:r>
              <a:rPr lang="en-US" sz="1100" dirty="0">
                <a:solidFill>
                  <a:srgbClr val="C9D2DC"/>
                </a:solidFill>
                <a:latin typeface="Calibri" pitchFamily="34" charset="0"/>
                <a:ea typeface="Calibri" pitchFamily="34" charset="-122"/>
                <a:cs typeface="Calibri" pitchFamily="34" charset="-120"/>
              </a:rPr>
              <a:t>class factor: trunk 1.8 · primary 1.4 · secondary 1.15 · tertiary 1.05 · service 1.1 · others 1.0</a:t>
            </a:r>
            <a:endParaRPr lang="en-US" sz="1100" dirty="0"/>
          </a:p>
        </p:txBody>
      </p:sp>
      <p:sp>
        <p:nvSpPr>
          <p:cNvPr id="7" name="Text 5"/>
          <p:cNvSpPr txBox="1"/>
          <p:nvPr/>
        </p:nvSpPr>
        <p:spPr>
          <a:xfrm>
            <a:off x="685800" y="301752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Each hub links to its 3 strongest partner hubs 1–6 km away (gravity = trips × trips ÷ distance²)</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Least-cost paths found with Dijkstra; flow loaded on each segment</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Lane priority = √flow × road risk (high stress, arterial class)</a:t>
            </a:r>
            <a:endParaRPr lang="en-US" sz="1400" dirty="0"/>
          </a:p>
        </p:txBody>
      </p:sp>
      <p:sp>
        <p:nvSpPr>
          <p:cNvPr id="8" name="Text 6"/>
          <p:cNvSpPr txBox="1"/>
          <p:nvPr/>
        </p:nvSpPr>
        <p:spPr>
          <a:xfrm>
            <a:off x="548640" y="4709160"/>
            <a:ext cx="1234440" cy="457200"/>
          </a:xfrm>
          <a:prstGeom prst="rect">
            <a:avLst/>
          </a:prstGeom>
          <a:noFill/>
          <a:ln/>
        </p:spPr>
        <p:txBody>
          <a:bodyPr wrap="square" lIns="0" tIns="0" rIns="0" bIns="0" rtlCol="0" anchor="t"/>
          <a:lstStyle/>
          <a:p>
            <a:pPr indent="0" marL="0">
              <a:buNone/>
            </a:pPr>
            <a:r>
              <a:rPr lang="en-US" sz="2000" b="1" dirty="0">
                <a:solidFill>
                  <a:srgbClr val="10233F"/>
                </a:solidFill>
                <a:latin typeface="Cambria" pitchFamily="34" charset="0"/>
                <a:ea typeface="Cambria" pitchFamily="34" charset="-122"/>
                <a:cs typeface="Cambria" pitchFamily="34" charset="-120"/>
              </a:rPr>
              <a:t>308</a:t>
            </a:r>
            <a:endParaRPr lang="en-US" sz="2000" dirty="0"/>
          </a:p>
        </p:txBody>
      </p:sp>
      <p:sp>
        <p:nvSpPr>
          <p:cNvPr id="9" name="Text 7"/>
          <p:cNvSpPr txBox="1"/>
          <p:nvPr/>
        </p:nvSpPr>
        <p:spPr>
          <a:xfrm>
            <a:off x="548640" y="5166360"/>
            <a:ext cx="1234440" cy="7315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hub-to-hub routes</a:t>
            </a:r>
            <a:endParaRPr lang="en-US" sz="1200" dirty="0"/>
          </a:p>
        </p:txBody>
      </p:sp>
      <p:sp>
        <p:nvSpPr>
          <p:cNvPr id="10" name="Text 8"/>
          <p:cNvSpPr txBox="1"/>
          <p:nvPr/>
        </p:nvSpPr>
        <p:spPr>
          <a:xfrm>
            <a:off x="1847088" y="4709160"/>
            <a:ext cx="1234440" cy="457200"/>
          </a:xfrm>
          <a:prstGeom prst="rect">
            <a:avLst/>
          </a:prstGeom>
          <a:noFill/>
          <a:ln/>
        </p:spPr>
        <p:txBody>
          <a:bodyPr wrap="square" lIns="0" tIns="0" rIns="0" bIns="0" rtlCol="0" anchor="t"/>
          <a:lstStyle/>
          <a:p>
            <a:pPr indent="0" marL="0">
              <a:buNone/>
            </a:pPr>
            <a:r>
              <a:rPr lang="en-US" sz="2000" b="1" dirty="0">
                <a:solidFill>
                  <a:srgbClr val="10233F"/>
                </a:solidFill>
                <a:latin typeface="Cambria" pitchFamily="34" charset="0"/>
                <a:ea typeface="Cambria" pitchFamily="34" charset="-122"/>
                <a:cs typeface="Cambria" pitchFamily="34" charset="-120"/>
              </a:rPr>
              <a:t>762 km</a:t>
            </a:r>
            <a:endParaRPr lang="en-US" sz="2000" dirty="0"/>
          </a:p>
        </p:txBody>
      </p:sp>
      <p:sp>
        <p:nvSpPr>
          <p:cNvPr id="11" name="Text 9"/>
          <p:cNvSpPr txBox="1"/>
          <p:nvPr/>
        </p:nvSpPr>
        <p:spPr>
          <a:xfrm>
            <a:off x="1847088" y="5166360"/>
            <a:ext cx="1234440" cy="7315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of calm corridor</a:t>
            </a:r>
            <a:endParaRPr lang="en-US" sz="1200" dirty="0"/>
          </a:p>
        </p:txBody>
      </p:sp>
      <p:sp>
        <p:nvSpPr>
          <p:cNvPr id="12" name="Text 10"/>
          <p:cNvSpPr txBox="1"/>
          <p:nvPr/>
        </p:nvSpPr>
        <p:spPr>
          <a:xfrm>
            <a:off x="3145536" y="4709160"/>
            <a:ext cx="1234440" cy="457200"/>
          </a:xfrm>
          <a:prstGeom prst="rect">
            <a:avLst/>
          </a:prstGeom>
          <a:noFill/>
          <a:ln/>
        </p:spPr>
        <p:txBody>
          <a:bodyPr wrap="square" lIns="0" tIns="0" rIns="0" bIns="0" rtlCol="0" anchor="t"/>
          <a:lstStyle/>
          <a:p>
            <a:pPr indent="0" marL="0">
              <a:buNone/>
            </a:pPr>
            <a:r>
              <a:rPr lang="en-US" sz="2000" b="1" dirty="0">
                <a:solidFill>
                  <a:srgbClr val="0B7A6F"/>
                </a:solidFill>
                <a:latin typeface="Cambria" pitchFamily="34" charset="0"/>
                <a:ea typeface="Cambria" pitchFamily="34" charset="-122"/>
                <a:cs typeface="Cambria" pitchFamily="34" charset="-120"/>
              </a:rPr>
              <a:t>5.9%</a:t>
            </a:r>
            <a:endParaRPr lang="en-US" sz="2000" dirty="0"/>
          </a:p>
        </p:txBody>
      </p:sp>
      <p:sp>
        <p:nvSpPr>
          <p:cNvPr id="13" name="Text 11"/>
          <p:cNvSpPr txBox="1"/>
          <p:nvPr/>
        </p:nvSpPr>
        <p:spPr>
          <a:xfrm>
            <a:off x="3145536" y="5166360"/>
            <a:ext cx="1234440" cy="7315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on high-stress roads</a:t>
            </a:r>
            <a:endParaRPr lang="en-US" sz="1200" dirty="0"/>
          </a:p>
        </p:txBody>
      </p:sp>
      <p:sp>
        <p:nvSpPr>
          <p:cNvPr id="14" name="Text 12"/>
          <p:cNvSpPr txBox="1"/>
          <p:nvPr/>
        </p:nvSpPr>
        <p:spPr>
          <a:xfrm>
            <a:off x="4443984" y="4709160"/>
            <a:ext cx="1234440" cy="457200"/>
          </a:xfrm>
          <a:prstGeom prst="rect">
            <a:avLst/>
          </a:prstGeom>
          <a:noFill/>
          <a:ln/>
        </p:spPr>
        <p:txBody>
          <a:bodyPr wrap="square" lIns="0" tIns="0" rIns="0" bIns="0" rtlCol="0" anchor="t"/>
          <a:lstStyle/>
          <a:p>
            <a:pPr indent="0" marL="0">
              <a:buNone/>
            </a:pPr>
            <a:r>
              <a:rPr lang="en-US" sz="2000" b="1" dirty="0">
                <a:solidFill>
                  <a:srgbClr val="10233F"/>
                </a:solidFill>
                <a:latin typeface="Cambria" pitchFamily="34" charset="0"/>
                <a:ea typeface="Cambria" pitchFamily="34" charset="-122"/>
                <a:cs typeface="Cambria" pitchFamily="34" charset="-120"/>
              </a:rPr>
              <a:t>+6.5%</a:t>
            </a:r>
            <a:endParaRPr lang="en-US" sz="2000" dirty="0"/>
          </a:p>
        </p:txBody>
      </p:sp>
      <p:sp>
        <p:nvSpPr>
          <p:cNvPr id="15" name="Text 13"/>
          <p:cNvSpPr txBox="1"/>
          <p:nvPr/>
        </p:nvSpPr>
        <p:spPr>
          <a:xfrm>
            <a:off x="4443984" y="5166360"/>
            <a:ext cx="1234440" cy="7315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longer than the shortest path</a:t>
            </a:r>
            <a:endParaRPr lang="en-US" sz="1200" dirty="0"/>
          </a:p>
        </p:txBody>
      </p:sp>
      <p:pic>
        <p:nvPicPr>
          <p:cNvPr id="16" name="Image 0" descr="c_s_roads.png">    </p:cNvPr>
          <p:cNvPicPr>
            <a:picLocks noChangeAspect="1"/>
          </p:cNvPicPr>
          <p:nvPr/>
        </p:nvPicPr>
        <p:blipFill>
          <a:blip r:embed="rId1"/>
          <a:stretch>
            <a:fillRect/>
          </a:stretch>
        </p:blipFill>
        <p:spPr>
          <a:xfrm>
            <a:off x="5989320" y="1933956"/>
            <a:ext cx="5669280" cy="3401568"/>
          </a:xfrm>
          <a:prstGeom prst="rect">
            <a:avLst/>
          </a:prstGeom>
        </p:spPr>
      </p:pic>
      <p:sp>
        <p:nvSpPr>
          <p:cNvPr id="17" name="Text 14"/>
          <p:cNvSpPr txBox="1"/>
          <p:nvPr/>
        </p:nvSpPr>
        <p:spPr>
          <a:xfrm>
            <a:off x="5989320" y="5408676"/>
            <a:ext cx="5669280" cy="411480"/>
          </a:xfrm>
          <a:prstGeom prst="rect">
            <a:avLst/>
          </a:prstGeom>
          <a:noFill/>
          <a:ln/>
        </p:spPr>
        <p:txBody>
          <a:bodyPr wrap="square" lIns="0" tIns="0" rIns="0" bIns="0" rtlCol="0" anchor="t"/>
          <a:lstStyle/>
          <a:p>
            <a:pPr indent="0" marL="0">
              <a:buNone/>
            </a:pPr>
            <a:r>
              <a:rPr lang="en-US" sz="1100" dirty="0">
                <a:solidFill>
                  <a:srgbClr val="6B788B"/>
                </a:solidFill>
                <a:latin typeface="Calibri" pitchFamily="34" charset="0"/>
                <a:ea typeface="Calibri" pitchFamily="34" charset="-122"/>
                <a:cs typeface="Calibri" pitchFamily="34" charset="-120"/>
              </a:rPr>
              <a:t>Route designer: Connaught Place → Lajpat Nagar. Calm route 11.7 km vs shortest 9.0 km; high-stress riding drops from 7.8 km to 0.8 km.</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Robustness: do hub locations depend on the weights?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2377440"/>
                <a:gridCol w="1463040"/>
                <a:gridCol w="1463040"/>
                <a:gridCol w="146304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Scenario</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Weighted coverage</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Population covered</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Same cell as balanced</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rgbClr val="10233F"/>
                    </a:solidFill>
                  </a:tcPr>
                </a:tc>
              </a:tr>
              <a:tr h="502920">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Balanced</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77.5%</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68.4%</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148 / 148</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502920">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Demand-led</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79.4%</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68.3%</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134 / 148</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502920">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Safety-first</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76.3%</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68.3%</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116 / 148</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502920">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Equity &amp; white-space</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75.5%</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68.4%</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500" dirty="0">
                          <a:solidFill>
                            <a:srgbClr val="10233F"/>
                          </a:solidFill>
                          <a:latin typeface="Calibri" pitchFamily="34" charset="0"/>
                          <a:ea typeface="Calibri" pitchFamily="34" charset="-122"/>
                          <a:cs typeface="Calibri" pitchFamily="34" charset="-120"/>
                        </a:rPr>
                        <a:t>120 / 148</a:t>
                      </a:r>
                      <a:endParaRPr lang="en-US" sz="1500" dirty="0">
                        <a:latin typeface="Calibri" charset="0"/>
                        <a:ea typeface="Calibri" charset="0"/>
                        <a:cs typeface="Calibri" charset="0"/>
                      </a:endParaRPr>
                    </a:p>
                  </a:txBody>
                  <a:tcPr marL="91440" marR="91440" marT="45720" marB="45720" anchor="ctr">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4" name="rob"/>
          <p:cNvSpPr/>
          <p:nvPr/>
        </p:nvSpPr>
        <p:spPr>
          <a:xfrm>
            <a:off x="7680960" y="1417320"/>
            <a:ext cx="3931920" cy="2651760"/>
          </a:xfrm>
          <a:prstGeom prst="roundRect">
            <a:avLst>
              <a:gd name="adj" fmla="val 2759"/>
            </a:avLst>
          </a:prstGeom>
          <a:solidFill>
            <a:srgbClr val="EEF1F5"/>
          </a:solidFill>
          <a:ln w="12700">
            <a:solidFill>
              <a:srgbClr val="EEF1F5"/>
            </a:solidFill>
            <a:prstDash val="solid"/>
          </a:ln>
        </p:spPr>
      </p:sp>
      <p:sp>
        <p:nvSpPr>
          <p:cNvPr id="5" name="Text 2"/>
          <p:cNvSpPr txBox="1"/>
          <p:nvPr/>
        </p:nvSpPr>
        <p:spPr>
          <a:xfrm>
            <a:off x="8001000" y="1554480"/>
            <a:ext cx="3383280" cy="685800"/>
          </a:xfrm>
          <a:prstGeom prst="rect">
            <a:avLst/>
          </a:prstGeom>
          <a:noFill/>
          <a:ln/>
        </p:spPr>
        <p:txBody>
          <a:bodyPr wrap="square" lIns="0" tIns="0" rIns="0" bIns="0" rtlCol="0" anchor="b"/>
          <a:lstStyle/>
          <a:p>
            <a:pPr indent="0" marL="0">
              <a:buNone/>
            </a:pPr>
            <a:r>
              <a:rPr lang="en-US" sz="3600" b="1" dirty="0">
                <a:solidFill>
                  <a:srgbClr val="0B7A6F"/>
                </a:solidFill>
                <a:latin typeface="Cambria" pitchFamily="34" charset="0"/>
                <a:ea typeface="Cambria" pitchFamily="34" charset="-122"/>
                <a:cs typeface="Cambria" pitchFamily="34" charset="-120"/>
              </a:rPr>
              <a:t>142 / 148</a:t>
            </a:r>
            <a:endParaRPr lang="en-US" sz="3600" dirty="0"/>
          </a:p>
        </p:txBody>
      </p:sp>
      <p:sp>
        <p:nvSpPr>
          <p:cNvPr id="6" name="Text 3"/>
          <p:cNvSpPr txBox="1"/>
          <p:nvPr/>
        </p:nvSpPr>
        <p:spPr>
          <a:xfrm>
            <a:off x="8001000" y="2286000"/>
            <a:ext cx="338328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hubs are robust: every scenario puts a hub within 1.5 km by road</a:t>
            </a:r>
            <a:endParaRPr lang="en-US" sz="1300" dirty="0"/>
          </a:p>
        </p:txBody>
      </p:sp>
      <p:sp>
        <p:nvSpPr>
          <p:cNvPr id="7" name="Text 4"/>
          <p:cNvSpPr txBox="1"/>
          <p:nvPr/>
        </p:nvSpPr>
        <p:spPr>
          <a:xfrm>
            <a:off x="685800" y="4206240"/>
            <a:ext cx="1078992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Exact cells shift between scenarios because neighbouring hexes score almost the same</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Coverage stays between 68 % and 69 % of residents in every scenario</a:t>
            </a:r>
            <a:endParaRPr lang="en-US" sz="1500" dirty="0"/>
          </a:p>
          <a:p>
            <a:pPr marL="342900" indent="-342900">
              <a:spcAft>
                <a:spcPts val="600"/>
              </a:spcAft>
              <a:buSzPct val="100000"/>
              <a:buChar char="•"/>
            </a:pPr>
            <a:r>
              <a:rPr lang="en-US" sz="1500" dirty="0">
                <a:solidFill>
                  <a:schemeClr val="tx2"/>
                </a:solidFill>
                <a:latin typeface="Calibri" pitchFamily="34" charset="0"/>
                <a:ea typeface="Calibri" pitchFamily="34" charset="-122"/>
                <a:cs typeface="Calibri" pitchFamily="34" charset="-120"/>
              </a:rPr>
              <a:t>Robust hubs are the first to pilot</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515600" cy="109728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04  The platform</a:t>
            </a:r>
            <a:endParaRPr lang="en-US" sz="4000" dirty="0"/>
          </a:p>
        </p:txBody>
      </p:sp>
      <p:sp>
        <p:nvSpPr>
          <p:cNvPr id="3" name="Text 0"/>
          <p:cNvSpPr/>
          <p:nvPr>
            <p:ph idx="101" type="body" hasCustomPrompt="1"/>
          </p:nvPr>
        </p:nvSpPr>
        <p:spPr>
          <a:xfrm>
            <a:off x="640080" y="3886200"/>
            <a:ext cx="960120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How the model outputs become a multi-page web tool for planners and riders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7"/>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offline models, live routing in the browser</a:t>
            </a:r>
            <a:endParaRPr lang="en-US" sz="3000" dirty="0"/>
          </a:p>
        </p:txBody>
      </p:sp>
      <p:sp>
        <p:nvSpPr>
          <p:cNvPr id="3" name="arch-0"/>
          <p:cNvSpPr/>
          <p:nvPr/>
        </p:nvSpPr>
        <p:spPr>
          <a:xfrm>
            <a:off x="548640" y="1463040"/>
            <a:ext cx="2606040" cy="3291840"/>
          </a:xfrm>
          <a:prstGeom prst="roundRect">
            <a:avLst>
              <a:gd name="adj" fmla="val 2807"/>
            </a:avLst>
          </a:prstGeom>
          <a:solidFill>
            <a:srgbClr val="EEF1F5"/>
          </a:solidFill>
          <a:ln w="12700">
            <a:solidFill>
              <a:srgbClr val="EEF1F5"/>
            </a:solidFill>
            <a:prstDash val="solid"/>
          </a:ln>
        </p:spPr>
      </p:sp>
      <p:sp>
        <p:nvSpPr>
          <p:cNvPr id="4" name="Shape 2"/>
          <p:cNvSpPr/>
          <p:nvPr/>
        </p:nvSpPr>
        <p:spPr>
          <a:xfrm>
            <a:off x="777240" y="1691640"/>
            <a:ext cx="548640" cy="548640"/>
          </a:xfrm>
          <a:prstGeom prst="ellipse">
            <a:avLst/>
          </a:prstGeom>
          <a:solidFill>
            <a:srgbClr val="10233F"/>
          </a:solidFill>
          <a:ln w="12700">
            <a:solidFill>
              <a:srgbClr val="10233F"/>
            </a:solidFill>
            <a:prstDash val="solid"/>
          </a:ln>
        </p:spPr>
      </p:sp>
      <p:pic>
        <p:nvPicPr>
          <p:cNvPr id="5" name="Image 0" descr="preencoded.png">    </p:cNvPr>
          <p:cNvPicPr>
            <a:picLocks noChangeAspect="1"/>
          </p:cNvPicPr>
          <p:nvPr/>
        </p:nvPicPr>
        <p:blipFill>
          <a:blip r:embed="rId1"/>
          <a:stretch>
            <a:fillRect/>
          </a:stretch>
        </p:blipFill>
        <p:spPr>
          <a:xfrm>
            <a:off x="897941" y="1812341"/>
            <a:ext cx="307238" cy="307238"/>
          </a:xfrm>
          <a:prstGeom prst="rect">
            <a:avLst/>
          </a:prstGeom>
        </p:spPr>
      </p:pic>
      <p:sp>
        <p:nvSpPr>
          <p:cNvPr id="6" name="Text 3"/>
          <p:cNvSpPr txBox="1"/>
          <p:nvPr/>
        </p:nvSpPr>
        <p:spPr>
          <a:xfrm>
            <a:off x="777240" y="2377440"/>
            <a:ext cx="2240280" cy="411480"/>
          </a:xfrm>
          <a:prstGeom prst="rect">
            <a:avLst/>
          </a:prstGeom>
          <a:noFill/>
          <a:ln/>
        </p:spPr>
        <p:txBody>
          <a:bodyPr wrap="square" lIns="0" tIns="0" rIns="0" bIns="0" rtlCol="0" anchor="t"/>
          <a:lstStyle/>
          <a:p>
            <a:pPr indent="0" marL="0">
              <a:buNone/>
            </a:pPr>
            <a:r>
              <a:rPr lang="en-US" sz="1800" b="1" dirty="0">
                <a:solidFill>
                  <a:srgbClr val="10233F"/>
                </a:solidFill>
                <a:latin typeface="Cambria" pitchFamily="34" charset="0"/>
                <a:ea typeface="Cambria" pitchFamily="34" charset="-122"/>
                <a:cs typeface="Cambria" pitchFamily="34" charset="-120"/>
              </a:rPr>
              <a:t>Inputs</a:t>
            </a:r>
            <a:endParaRPr lang="en-US" sz="1800" dirty="0"/>
          </a:p>
        </p:txBody>
      </p:sp>
      <p:sp>
        <p:nvSpPr>
          <p:cNvPr id="7" name="Text 4"/>
          <p:cNvSpPr txBox="1"/>
          <p:nvPr/>
        </p:nvSpPr>
        <p:spPr>
          <a:xfrm>
            <a:off x="777240" y="2834640"/>
            <a:ext cx="224028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4536A"/>
                </a:solidFill>
              </a:rPr>
              <a:t>Grid CSV + hex GeoPackage</a:t>
            </a:r>
            <a:endParaRPr lang="en-US" sz="1300" dirty="0"/>
          </a:p>
          <a:p>
            <a:pPr marL="342900" indent="-342900">
              <a:spcAft>
                <a:spcPts val="400"/>
              </a:spcAft>
              <a:buSzPct val="100000"/>
              <a:buChar char="•"/>
            </a:pPr>
            <a:r>
              <a:rPr lang="en-US" sz="1300" dirty="0">
                <a:solidFill>
                  <a:srgbClr val="44536A"/>
                </a:solidFill>
              </a:rPr>
              <a:t>OSM road GeoPackage</a:t>
            </a:r>
            <a:endParaRPr lang="en-US" sz="1300" dirty="0"/>
          </a:p>
        </p:txBody>
      </p:sp>
      <p:sp>
        <p:nvSpPr>
          <p:cNvPr id="8" name="Shape 5"/>
          <p:cNvSpPr/>
          <p:nvPr/>
        </p:nvSpPr>
        <p:spPr>
          <a:xfrm>
            <a:off x="3182112" y="2926080"/>
            <a:ext cx="219456" cy="320040"/>
          </a:xfrm>
          <a:prstGeom prst="rightArrow">
            <a:avLst/>
          </a:prstGeom>
          <a:solidFill>
            <a:srgbClr val="0B7A6F"/>
          </a:solidFill>
          <a:ln w="12700">
            <a:solidFill>
              <a:srgbClr val="0B7A6F"/>
            </a:solidFill>
            <a:prstDash val="solid"/>
          </a:ln>
        </p:spPr>
      </p:sp>
      <p:sp>
        <p:nvSpPr>
          <p:cNvPr id="9" name="arch-1"/>
          <p:cNvSpPr/>
          <p:nvPr/>
        </p:nvSpPr>
        <p:spPr>
          <a:xfrm>
            <a:off x="3429000" y="1463040"/>
            <a:ext cx="2606040" cy="3291840"/>
          </a:xfrm>
          <a:prstGeom prst="roundRect">
            <a:avLst>
              <a:gd name="adj" fmla="val 2807"/>
            </a:avLst>
          </a:prstGeom>
          <a:solidFill>
            <a:srgbClr val="EEF1F5"/>
          </a:solidFill>
          <a:ln w="12700">
            <a:solidFill>
              <a:srgbClr val="EEF1F5"/>
            </a:solidFill>
            <a:prstDash val="solid"/>
          </a:ln>
        </p:spPr>
      </p:sp>
      <p:sp>
        <p:nvSpPr>
          <p:cNvPr id="10" name="Shape 7"/>
          <p:cNvSpPr/>
          <p:nvPr/>
        </p:nvSpPr>
        <p:spPr>
          <a:xfrm>
            <a:off x="3657600" y="1691640"/>
            <a:ext cx="548640" cy="548640"/>
          </a:xfrm>
          <a:prstGeom prst="ellipse">
            <a:avLst/>
          </a:prstGeom>
          <a:solidFill>
            <a:srgbClr val="10233F"/>
          </a:solidFill>
          <a:ln w="12700">
            <a:solidFill>
              <a:srgbClr val="10233F"/>
            </a:solidFill>
            <a:prstDash val="solid"/>
          </a:ln>
        </p:spPr>
      </p:sp>
      <p:pic>
        <p:nvPicPr>
          <p:cNvPr id="11" name="Image 1" descr="preencoded.png">    </p:cNvPr>
          <p:cNvPicPr>
            <a:picLocks noChangeAspect="1"/>
          </p:cNvPicPr>
          <p:nvPr/>
        </p:nvPicPr>
        <p:blipFill>
          <a:blip r:embed="rId2"/>
          <a:stretch>
            <a:fillRect/>
          </a:stretch>
        </p:blipFill>
        <p:spPr>
          <a:xfrm>
            <a:off x="3778301" y="1812341"/>
            <a:ext cx="307238" cy="307238"/>
          </a:xfrm>
          <a:prstGeom prst="rect">
            <a:avLst/>
          </a:prstGeom>
        </p:spPr>
      </p:pic>
      <p:sp>
        <p:nvSpPr>
          <p:cNvPr id="12" name="Text 8"/>
          <p:cNvSpPr txBox="1"/>
          <p:nvPr/>
        </p:nvSpPr>
        <p:spPr>
          <a:xfrm>
            <a:off x="3657600" y="2377440"/>
            <a:ext cx="2240280" cy="411480"/>
          </a:xfrm>
          <a:prstGeom prst="rect">
            <a:avLst/>
          </a:prstGeom>
          <a:noFill/>
          <a:ln/>
        </p:spPr>
        <p:txBody>
          <a:bodyPr wrap="square" lIns="0" tIns="0" rIns="0" bIns="0" rtlCol="0" anchor="t"/>
          <a:lstStyle/>
          <a:p>
            <a:pPr indent="0" marL="0">
              <a:buNone/>
            </a:pPr>
            <a:r>
              <a:rPr lang="en-US" sz="1800" b="1" dirty="0">
                <a:solidFill>
                  <a:srgbClr val="10233F"/>
                </a:solidFill>
                <a:latin typeface="Cambria" pitchFamily="34" charset="0"/>
                <a:ea typeface="Cambria" pitchFamily="34" charset="-122"/>
                <a:cs typeface="Cambria" pitchFamily="34" charset="-120"/>
              </a:rPr>
              <a:t>Python pipeline</a:t>
            </a:r>
            <a:endParaRPr lang="en-US" sz="1800" dirty="0"/>
          </a:p>
        </p:txBody>
      </p:sp>
      <p:sp>
        <p:nvSpPr>
          <p:cNvPr id="13" name="Text 9"/>
          <p:cNvSpPr txBox="1"/>
          <p:nvPr/>
        </p:nvSpPr>
        <p:spPr>
          <a:xfrm>
            <a:off x="3657600" y="2834640"/>
            <a:ext cx="224028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4536A"/>
                </a:solidFill>
              </a:rPr>
              <a:t>GeoPandas, SciPy Dijkstra</a:t>
            </a:r>
            <a:endParaRPr lang="en-US" sz="1300" dirty="0"/>
          </a:p>
          <a:p>
            <a:pPr marL="342900" indent="-342900">
              <a:spcAft>
                <a:spcPts val="400"/>
              </a:spcAft>
              <a:buSzPct val="100000"/>
              <a:buChar char="•"/>
            </a:pPr>
            <a:r>
              <a:rPr lang="en-US" sz="1300" dirty="0">
                <a:solidFill>
                  <a:srgbClr val="44536A"/>
                </a:solidFill>
              </a:rPr>
              <a:t>PuLP + HiGHS solver</a:t>
            </a:r>
            <a:endParaRPr lang="en-US" sz="1300" dirty="0"/>
          </a:p>
          <a:p>
            <a:pPr marL="342900" indent="-342900">
              <a:spcAft>
                <a:spcPts val="400"/>
              </a:spcAft>
              <a:buSzPct val="100000"/>
              <a:buChar char="•"/>
            </a:pPr>
            <a:r>
              <a:rPr lang="en-US" sz="1300" dirty="0">
                <a:solidFill>
                  <a:srgbClr val="44536A"/>
                </a:solidFill>
              </a:rPr>
              <a:t>Indices, MCLP, p-median, corridors</a:t>
            </a:r>
            <a:endParaRPr lang="en-US" sz="1300" dirty="0"/>
          </a:p>
        </p:txBody>
      </p:sp>
      <p:sp>
        <p:nvSpPr>
          <p:cNvPr id="14" name="Shape 10"/>
          <p:cNvSpPr/>
          <p:nvPr/>
        </p:nvSpPr>
        <p:spPr>
          <a:xfrm>
            <a:off x="6062472" y="2926080"/>
            <a:ext cx="219456" cy="320040"/>
          </a:xfrm>
          <a:prstGeom prst="rightArrow">
            <a:avLst/>
          </a:prstGeom>
          <a:solidFill>
            <a:srgbClr val="0B7A6F"/>
          </a:solidFill>
          <a:ln w="12700">
            <a:solidFill>
              <a:srgbClr val="0B7A6F"/>
            </a:solidFill>
            <a:prstDash val="solid"/>
          </a:ln>
        </p:spPr>
      </p:sp>
      <p:sp>
        <p:nvSpPr>
          <p:cNvPr id="15" name="arch-2"/>
          <p:cNvSpPr/>
          <p:nvPr/>
        </p:nvSpPr>
        <p:spPr>
          <a:xfrm>
            <a:off x="6309360" y="1463040"/>
            <a:ext cx="2606040" cy="3291840"/>
          </a:xfrm>
          <a:prstGeom prst="roundRect">
            <a:avLst>
              <a:gd name="adj" fmla="val 2807"/>
            </a:avLst>
          </a:prstGeom>
          <a:solidFill>
            <a:srgbClr val="EEF1F5"/>
          </a:solidFill>
          <a:ln w="12700">
            <a:solidFill>
              <a:srgbClr val="EEF1F5"/>
            </a:solidFill>
            <a:prstDash val="solid"/>
          </a:ln>
        </p:spPr>
      </p:sp>
      <p:sp>
        <p:nvSpPr>
          <p:cNvPr id="16" name="Shape 12"/>
          <p:cNvSpPr/>
          <p:nvPr/>
        </p:nvSpPr>
        <p:spPr>
          <a:xfrm>
            <a:off x="6537960" y="1691640"/>
            <a:ext cx="548640" cy="548640"/>
          </a:xfrm>
          <a:prstGeom prst="ellipse">
            <a:avLst/>
          </a:prstGeom>
          <a:solidFill>
            <a:srgbClr val="10233F"/>
          </a:solidFill>
          <a:ln w="12700">
            <a:solidFill>
              <a:srgbClr val="10233F"/>
            </a:solidFill>
            <a:prstDash val="solid"/>
          </a:ln>
        </p:spPr>
      </p:sp>
      <p:pic>
        <p:nvPicPr>
          <p:cNvPr id="17" name="Image 2" descr="preencoded.png">    </p:cNvPr>
          <p:cNvPicPr>
            <a:picLocks noChangeAspect="1"/>
          </p:cNvPicPr>
          <p:nvPr/>
        </p:nvPicPr>
        <p:blipFill>
          <a:blip r:embed="rId3"/>
          <a:stretch>
            <a:fillRect/>
          </a:stretch>
        </p:blipFill>
        <p:spPr>
          <a:xfrm>
            <a:off x="6658661" y="1812341"/>
            <a:ext cx="307238" cy="307238"/>
          </a:xfrm>
          <a:prstGeom prst="rect">
            <a:avLst/>
          </a:prstGeom>
        </p:spPr>
      </p:pic>
      <p:sp>
        <p:nvSpPr>
          <p:cNvPr id="18" name="Text 13"/>
          <p:cNvSpPr txBox="1"/>
          <p:nvPr/>
        </p:nvSpPr>
        <p:spPr>
          <a:xfrm>
            <a:off x="6537960" y="2377440"/>
            <a:ext cx="2240280" cy="411480"/>
          </a:xfrm>
          <a:prstGeom prst="rect">
            <a:avLst/>
          </a:prstGeom>
          <a:noFill/>
          <a:ln/>
        </p:spPr>
        <p:txBody>
          <a:bodyPr wrap="square" lIns="0" tIns="0" rIns="0" bIns="0" rtlCol="0" anchor="t"/>
          <a:lstStyle/>
          <a:p>
            <a:pPr indent="0" marL="0">
              <a:buNone/>
            </a:pPr>
            <a:r>
              <a:rPr lang="en-US" sz="1800" b="1" dirty="0">
                <a:solidFill>
                  <a:srgbClr val="10233F"/>
                </a:solidFill>
                <a:latin typeface="Cambria" pitchFamily="34" charset="0"/>
                <a:ea typeface="Cambria" pitchFamily="34" charset="-122"/>
                <a:cs typeface="Cambria" pitchFamily="34" charset="-120"/>
              </a:rPr>
              <a:t>Packaged outputs</a:t>
            </a:r>
            <a:endParaRPr lang="en-US" sz="1800" dirty="0"/>
          </a:p>
        </p:txBody>
      </p:sp>
      <p:sp>
        <p:nvSpPr>
          <p:cNvPr id="19" name="Text 14"/>
          <p:cNvSpPr txBox="1"/>
          <p:nvPr/>
        </p:nvSpPr>
        <p:spPr>
          <a:xfrm>
            <a:off x="6537960" y="2834640"/>
            <a:ext cx="224028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4536A"/>
                </a:solidFill>
              </a:rPr>
              <a:t>Model JSON: cells, hubs, stations, corridors, metrics</a:t>
            </a:r>
            <a:endParaRPr lang="en-US" sz="1300" dirty="0"/>
          </a:p>
          <a:p>
            <a:pPr marL="342900" indent="-342900">
              <a:spcAft>
                <a:spcPts val="400"/>
              </a:spcAft>
              <a:buSzPct val="100000"/>
              <a:buChar char="•"/>
            </a:pPr>
            <a:r>
              <a:rPr lang="en-US" sz="1300" dirty="0">
                <a:solidFill>
                  <a:srgbClr val="44536A"/>
                </a:solidFill>
              </a:rPr>
              <a:t>Road graph: 246k junctions, gzip binary, 3.3 MB</a:t>
            </a:r>
            <a:endParaRPr lang="en-US" sz="1300" dirty="0"/>
          </a:p>
        </p:txBody>
      </p:sp>
      <p:sp>
        <p:nvSpPr>
          <p:cNvPr id="20" name="Shape 15"/>
          <p:cNvSpPr/>
          <p:nvPr/>
        </p:nvSpPr>
        <p:spPr>
          <a:xfrm>
            <a:off x="8942832" y="2926080"/>
            <a:ext cx="219456" cy="320040"/>
          </a:xfrm>
          <a:prstGeom prst="rightArrow">
            <a:avLst/>
          </a:prstGeom>
          <a:solidFill>
            <a:srgbClr val="0B7A6F"/>
          </a:solidFill>
          <a:ln w="12700">
            <a:solidFill>
              <a:srgbClr val="0B7A6F"/>
            </a:solidFill>
            <a:prstDash val="solid"/>
          </a:ln>
        </p:spPr>
      </p:sp>
      <p:sp>
        <p:nvSpPr>
          <p:cNvPr id="21" name="arch-3"/>
          <p:cNvSpPr/>
          <p:nvPr/>
        </p:nvSpPr>
        <p:spPr>
          <a:xfrm>
            <a:off x="9189720" y="1463040"/>
            <a:ext cx="2606040" cy="3291840"/>
          </a:xfrm>
          <a:prstGeom prst="roundRect">
            <a:avLst>
              <a:gd name="adj" fmla="val 2807"/>
            </a:avLst>
          </a:prstGeom>
          <a:solidFill>
            <a:srgbClr val="10233F"/>
          </a:solidFill>
          <a:ln w="12700">
            <a:solidFill>
              <a:srgbClr val="10233F"/>
            </a:solidFill>
            <a:prstDash val="solid"/>
          </a:ln>
        </p:spPr>
      </p:sp>
      <p:sp>
        <p:nvSpPr>
          <p:cNvPr id="22" name="Shape 17"/>
          <p:cNvSpPr/>
          <p:nvPr/>
        </p:nvSpPr>
        <p:spPr>
          <a:xfrm>
            <a:off x="9418320" y="1691640"/>
            <a:ext cx="548640" cy="548640"/>
          </a:xfrm>
          <a:prstGeom prst="ellipse">
            <a:avLst/>
          </a:prstGeom>
          <a:solidFill>
            <a:srgbClr val="0B7A6F"/>
          </a:solidFill>
          <a:ln w="12700">
            <a:solidFill>
              <a:srgbClr val="0B7A6F"/>
            </a:solidFill>
            <a:prstDash val="solid"/>
          </a:ln>
        </p:spPr>
      </p:sp>
      <p:pic>
        <p:nvPicPr>
          <p:cNvPr id="23" name="Image 3" descr="preencoded.png">    </p:cNvPr>
          <p:cNvPicPr>
            <a:picLocks noChangeAspect="1"/>
          </p:cNvPicPr>
          <p:nvPr/>
        </p:nvPicPr>
        <p:blipFill>
          <a:blip r:embed="rId4"/>
          <a:stretch>
            <a:fillRect/>
          </a:stretch>
        </p:blipFill>
        <p:spPr>
          <a:xfrm>
            <a:off x="9539021" y="1812341"/>
            <a:ext cx="307238" cy="307238"/>
          </a:xfrm>
          <a:prstGeom prst="rect">
            <a:avLst/>
          </a:prstGeom>
        </p:spPr>
      </p:pic>
      <p:sp>
        <p:nvSpPr>
          <p:cNvPr id="24" name="Text 18"/>
          <p:cNvSpPr txBox="1"/>
          <p:nvPr/>
        </p:nvSpPr>
        <p:spPr>
          <a:xfrm>
            <a:off x="9418320" y="2377440"/>
            <a:ext cx="2240280" cy="4114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Web platform</a:t>
            </a:r>
            <a:endParaRPr lang="en-US" sz="1800" dirty="0"/>
          </a:p>
        </p:txBody>
      </p:sp>
      <p:sp>
        <p:nvSpPr>
          <p:cNvPr id="25" name="Text 19"/>
          <p:cNvSpPr txBox="1"/>
          <p:nvPr/>
        </p:nvSpPr>
        <p:spPr>
          <a:xfrm>
            <a:off x="9418320" y="2834640"/>
            <a:ext cx="224028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8EEF6"/>
                </a:solidFill>
              </a:rPr>
              <a:t>Leaflet maps, canvas road renderer</a:t>
            </a:r>
            <a:endParaRPr lang="en-US" sz="1300" dirty="0"/>
          </a:p>
          <a:p>
            <a:pPr marL="342900" indent="-342900">
              <a:spcAft>
                <a:spcPts val="400"/>
              </a:spcAft>
              <a:buSzPct val="100000"/>
              <a:buChar char="•"/>
            </a:pPr>
            <a:r>
              <a:rPr lang="en-US" sz="1300" dirty="0">
                <a:solidFill>
                  <a:srgbClr val="E8EEF6"/>
                </a:solidFill>
              </a:rPr>
              <a:t>Dijkstra / A* routing in the browser</a:t>
            </a:r>
            <a:endParaRPr lang="en-US" sz="1300" dirty="0"/>
          </a:p>
          <a:p>
            <a:pPr marL="342900" indent="-342900">
              <a:spcAft>
                <a:spcPts val="400"/>
              </a:spcAft>
              <a:buSzPct val="100000"/>
              <a:buChar char="•"/>
            </a:pPr>
            <a:r>
              <a:rPr lang="en-US" sz="1300" dirty="0">
                <a:solidFill>
                  <a:srgbClr val="E8EEF6"/>
                </a:solidFill>
              </a:rPr>
              <a:t>Greedy re-optimisation live</a:t>
            </a:r>
            <a:endParaRPr lang="en-US" sz="1300" dirty="0"/>
          </a:p>
        </p:txBody>
      </p:sp>
      <p:sp>
        <p:nvSpPr>
          <p:cNvPr id="26" name="Text 20"/>
          <p:cNvSpPr txBox="1"/>
          <p:nvPr/>
        </p:nvSpPr>
        <p:spPr>
          <a:xfrm>
            <a:off x="685800" y="5029200"/>
            <a:ext cx="107899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Heavy optimisation runs once, offline; the browser only loads results and the compressed road graph</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Routing, nearest-facility search and greedy re-optimisation run live in the viewer's browser, so no server is needed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Single self-contained page of about 6.6 MB</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Site structure: Home, About and Facilities</a:t>
            </a:r>
            <a:endParaRPr lang="en-US" sz="3000" dirty="0"/>
          </a:p>
        </p:txBody>
      </p:sp>
      <p:pic>
        <p:nvPicPr>
          <p:cNvPr id="3" name="Image 0" descr="c_s_home.png">    </p:cNvPr>
          <p:cNvPicPr>
            <a:picLocks noChangeAspect="1"/>
          </p:cNvPicPr>
          <p:nvPr/>
        </p:nvPicPr>
        <p:blipFill>
          <a:blip r:embed="rId1"/>
          <a:stretch>
            <a:fillRect/>
          </a:stretch>
        </p:blipFill>
        <p:spPr>
          <a:xfrm>
            <a:off x="548640" y="1405890"/>
            <a:ext cx="6035040" cy="3771900"/>
          </a:xfrm>
          <a:prstGeom prst="rect">
            <a:avLst/>
          </a:prstGeom>
        </p:spPr>
      </p:pic>
      <p:sp>
        <p:nvSpPr>
          <p:cNvPr id="4" name="node-0"/>
          <p:cNvSpPr/>
          <p:nvPr/>
        </p:nvSpPr>
        <p:spPr>
          <a:xfrm>
            <a:off x="6949440" y="1325880"/>
            <a:ext cx="4663440" cy="1005840"/>
          </a:xfrm>
          <a:prstGeom prst="roundRect">
            <a:avLst>
              <a:gd name="adj" fmla="val 7273"/>
            </a:avLst>
          </a:prstGeom>
          <a:solidFill>
            <a:srgbClr val="EEF1F5"/>
          </a:solidFill>
          <a:ln w="12700">
            <a:solidFill>
              <a:srgbClr val="EEF1F5"/>
            </a:solidFill>
            <a:prstDash val="solid"/>
          </a:ln>
        </p:spPr>
      </p:sp>
      <p:sp>
        <p:nvSpPr>
          <p:cNvPr id="5" name="Shape 2"/>
          <p:cNvSpPr/>
          <p:nvPr/>
        </p:nvSpPr>
        <p:spPr>
          <a:xfrm>
            <a:off x="7132320" y="1655064"/>
            <a:ext cx="347472" cy="347472"/>
          </a:xfrm>
          <a:prstGeom prst="ellipse">
            <a:avLst/>
          </a:prstGeom>
          <a:solidFill>
            <a:srgbClr val="10233F"/>
          </a:solidFill>
          <a:ln w="12700">
            <a:solidFill>
              <a:srgbClr val="10233F"/>
            </a:solidFill>
            <a:prstDash val="solid"/>
          </a:ln>
        </p:spPr>
      </p:sp>
      <p:sp>
        <p:nvSpPr>
          <p:cNvPr id="6" name="Text 3"/>
          <p:cNvSpPr txBox="1"/>
          <p:nvPr/>
        </p:nvSpPr>
        <p:spPr>
          <a:xfrm>
            <a:off x="7635240" y="1435608"/>
            <a:ext cx="38404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Home</a:t>
            </a:r>
            <a:endParaRPr lang="en-US" sz="1600" dirty="0"/>
          </a:p>
        </p:txBody>
      </p:sp>
      <p:sp>
        <p:nvSpPr>
          <p:cNvPr id="7" name="Text 4"/>
          <p:cNvSpPr txBox="1"/>
          <p:nvPr/>
        </p:nvSpPr>
        <p:spPr>
          <a:xfrm>
            <a:off x="7635240" y="1783080"/>
            <a:ext cx="3840480"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Research question, headline metrics, entry points</a:t>
            </a:r>
            <a:endParaRPr lang="en-US" sz="1250" dirty="0"/>
          </a:p>
        </p:txBody>
      </p:sp>
      <p:sp>
        <p:nvSpPr>
          <p:cNvPr id="8" name="node-1"/>
          <p:cNvSpPr/>
          <p:nvPr/>
        </p:nvSpPr>
        <p:spPr>
          <a:xfrm>
            <a:off x="6949440" y="2514600"/>
            <a:ext cx="4663440" cy="1005840"/>
          </a:xfrm>
          <a:prstGeom prst="roundRect">
            <a:avLst>
              <a:gd name="adj" fmla="val 7273"/>
            </a:avLst>
          </a:prstGeom>
          <a:solidFill>
            <a:srgbClr val="EEF1F5"/>
          </a:solidFill>
          <a:ln w="12700">
            <a:solidFill>
              <a:srgbClr val="EEF1F5"/>
            </a:solidFill>
            <a:prstDash val="solid"/>
          </a:ln>
        </p:spPr>
      </p:sp>
      <p:sp>
        <p:nvSpPr>
          <p:cNvPr id="9" name="Shape 6"/>
          <p:cNvSpPr/>
          <p:nvPr/>
        </p:nvSpPr>
        <p:spPr>
          <a:xfrm>
            <a:off x="7132320" y="2843784"/>
            <a:ext cx="347472" cy="347472"/>
          </a:xfrm>
          <a:prstGeom prst="ellipse">
            <a:avLst/>
          </a:prstGeom>
          <a:solidFill>
            <a:srgbClr val="10233F"/>
          </a:solidFill>
          <a:ln w="12700">
            <a:solidFill>
              <a:srgbClr val="10233F"/>
            </a:solidFill>
            <a:prstDash val="solid"/>
          </a:ln>
        </p:spPr>
      </p:sp>
      <p:sp>
        <p:nvSpPr>
          <p:cNvPr id="10" name="Text 7"/>
          <p:cNvSpPr txBox="1"/>
          <p:nvPr/>
        </p:nvSpPr>
        <p:spPr>
          <a:xfrm>
            <a:off x="7635240" y="2624328"/>
            <a:ext cx="38404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About</a:t>
            </a:r>
            <a:endParaRPr lang="en-US" sz="1600" dirty="0"/>
          </a:p>
        </p:txBody>
      </p:sp>
      <p:sp>
        <p:nvSpPr>
          <p:cNvPr id="11" name="Text 8"/>
          <p:cNvSpPr txBox="1"/>
          <p:nvPr/>
        </p:nvSpPr>
        <p:spPr>
          <a:xfrm>
            <a:off x="7635240" y="2971800"/>
            <a:ext cx="3840480"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Challenge, data, methodology, limits</a:t>
            </a:r>
            <a:endParaRPr lang="en-US" sz="1250" dirty="0"/>
          </a:p>
        </p:txBody>
      </p:sp>
      <p:sp>
        <p:nvSpPr>
          <p:cNvPr id="12" name="node-2"/>
          <p:cNvSpPr/>
          <p:nvPr/>
        </p:nvSpPr>
        <p:spPr>
          <a:xfrm>
            <a:off x="6949440" y="3703320"/>
            <a:ext cx="4663440" cy="1005840"/>
          </a:xfrm>
          <a:prstGeom prst="roundRect">
            <a:avLst>
              <a:gd name="adj" fmla="val 7273"/>
            </a:avLst>
          </a:prstGeom>
          <a:solidFill>
            <a:srgbClr val="EEF1F5"/>
          </a:solidFill>
          <a:ln w="12700">
            <a:solidFill>
              <a:srgbClr val="EEF1F5"/>
            </a:solidFill>
            <a:prstDash val="solid"/>
          </a:ln>
        </p:spPr>
      </p:sp>
      <p:sp>
        <p:nvSpPr>
          <p:cNvPr id="13" name="Shape 10"/>
          <p:cNvSpPr/>
          <p:nvPr/>
        </p:nvSpPr>
        <p:spPr>
          <a:xfrm>
            <a:off x="7132320" y="4032504"/>
            <a:ext cx="347472" cy="347472"/>
          </a:xfrm>
          <a:prstGeom prst="ellipse">
            <a:avLst/>
          </a:prstGeom>
          <a:solidFill>
            <a:srgbClr val="0B7A6F"/>
          </a:solidFill>
          <a:ln w="12700">
            <a:solidFill>
              <a:srgbClr val="0B7A6F"/>
            </a:solidFill>
            <a:prstDash val="solid"/>
          </a:ln>
        </p:spPr>
      </p:sp>
      <p:sp>
        <p:nvSpPr>
          <p:cNvPr id="14" name="Text 11"/>
          <p:cNvSpPr txBox="1"/>
          <p:nvPr/>
        </p:nvSpPr>
        <p:spPr>
          <a:xfrm>
            <a:off x="7635240" y="3813048"/>
            <a:ext cx="38404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Facilities › Planner</a:t>
            </a:r>
            <a:endParaRPr lang="en-US" sz="1600" dirty="0"/>
          </a:p>
        </p:txBody>
      </p:sp>
      <p:sp>
        <p:nvSpPr>
          <p:cNvPr id="15" name="Text 12"/>
          <p:cNvSpPr txBox="1"/>
          <p:nvPr/>
        </p:nvSpPr>
        <p:spPr>
          <a:xfrm>
            <a:off x="7635240" y="4160520"/>
            <a:ext cx="3840480"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Suitable locations · Road network &amp; routes · Battery &amp; stations · Roll-out &amp; KPIs</a:t>
            </a:r>
            <a:endParaRPr lang="en-US" sz="1250" dirty="0"/>
          </a:p>
        </p:txBody>
      </p:sp>
      <p:sp>
        <p:nvSpPr>
          <p:cNvPr id="16" name="node-3"/>
          <p:cNvSpPr/>
          <p:nvPr/>
        </p:nvSpPr>
        <p:spPr>
          <a:xfrm>
            <a:off x="6949440" y="4892040"/>
            <a:ext cx="4663440" cy="1005840"/>
          </a:xfrm>
          <a:prstGeom prst="roundRect">
            <a:avLst>
              <a:gd name="adj" fmla="val 7273"/>
            </a:avLst>
          </a:prstGeom>
          <a:solidFill>
            <a:srgbClr val="EEF1F5"/>
          </a:solidFill>
          <a:ln w="12700">
            <a:solidFill>
              <a:srgbClr val="EEF1F5"/>
            </a:solidFill>
            <a:prstDash val="solid"/>
          </a:ln>
        </p:spPr>
      </p:sp>
      <p:sp>
        <p:nvSpPr>
          <p:cNvPr id="17" name="Shape 14"/>
          <p:cNvSpPr/>
          <p:nvPr/>
        </p:nvSpPr>
        <p:spPr>
          <a:xfrm>
            <a:off x="7132320" y="5221224"/>
            <a:ext cx="347472" cy="347472"/>
          </a:xfrm>
          <a:prstGeom prst="ellipse">
            <a:avLst/>
          </a:prstGeom>
          <a:solidFill>
            <a:srgbClr val="EB6834"/>
          </a:solidFill>
          <a:ln w="12700">
            <a:solidFill>
              <a:srgbClr val="EB6834"/>
            </a:solidFill>
            <a:prstDash val="solid"/>
          </a:ln>
        </p:spPr>
      </p:sp>
      <p:sp>
        <p:nvSpPr>
          <p:cNvPr id="18" name="Text 15"/>
          <p:cNvSpPr txBox="1"/>
          <p:nvPr/>
        </p:nvSpPr>
        <p:spPr>
          <a:xfrm>
            <a:off x="7635240" y="5001768"/>
            <a:ext cx="38404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Facilities › User</a:t>
            </a:r>
            <a:endParaRPr lang="en-US" sz="1600" dirty="0"/>
          </a:p>
        </p:txBody>
      </p:sp>
      <p:sp>
        <p:nvSpPr>
          <p:cNvPr id="19" name="Text 16"/>
          <p:cNvSpPr txBox="1"/>
          <p:nvPr/>
        </p:nvSpPr>
        <p:spPr>
          <a:xfrm>
            <a:off x="7635240" y="5349240"/>
            <a:ext cx="3840480"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Journey planner · Nearest facilities</a:t>
            </a:r>
            <a:endParaRPr lang="en-US" sz="1250" dirty="0"/>
          </a:p>
        </p:txBody>
      </p:sp>
      <p:sp>
        <p:nvSpPr>
          <p:cNvPr id="20" name="Text 17"/>
          <p:cNvSpPr txBox="1"/>
          <p:nvPr/>
        </p:nvSpPr>
        <p:spPr>
          <a:xfrm>
            <a:off x="548640" y="5360670"/>
            <a:ext cx="603504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One page is shown at a time. The top bar switches pages; the Planner has its own sub-tabs. Maps load only when their page is opened.</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Planner: suitable locations workspace</a:t>
            </a:r>
            <a:endParaRPr lang="en-US" sz="3000" dirty="0"/>
          </a:p>
        </p:txBody>
      </p:sp>
      <p:pic>
        <p:nvPicPr>
          <p:cNvPr id="3" name="Image 0" descr="c_s_loc.png">    </p:cNvPr>
          <p:cNvPicPr>
            <a:picLocks noChangeAspect="1"/>
          </p:cNvPicPr>
          <p:nvPr/>
        </p:nvPicPr>
        <p:blipFill>
          <a:blip r:embed="rId1"/>
          <a:stretch>
            <a:fillRect/>
          </a:stretch>
        </p:blipFill>
        <p:spPr>
          <a:xfrm>
            <a:off x="548640" y="1873788"/>
            <a:ext cx="7498080" cy="3659063"/>
          </a:xfrm>
          <a:prstGeom prst="rect">
            <a:avLst/>
          </a:prstGeom>
        </p:spPr>
      </p:pic>
      <p:sp>
        <p:nvSpPr>
          <p:cNvPr id="4" name="Shape 1"/>
          <p:cNvSpPr/>
          <p:nvPr/>
        </p:nvSpPr>
        <p:spPr>
          <a:xfrm>
            <a:off x="8412480" y="1371600"/>
            <a:ext cx="502920" cy="502920"/>
          </a:xfrm>
          <a:prstGeom prst="ellipse">
            <a:avLst/>
          </a:prstGeom>
          <a:solidFill>
            <a:srgbClr val="0B7A6F"/>
          </a:solidFill>
          <a:ln w="12700">
            <a:solidFill>
              <a:srgbClr val="0B7A6F"/>
            </a:solidFill>
            <a:prstDash val="solid"/>
          </a:ln>
        </p:spPr>
      </p:sp>
      <p:pic>
        <p:nvPicPr>
          <p:cNvPr id="5" name="Image 1" descr="preencoded.png">    </p:cNvPr>
          <p:cNvPicPr>
            <a:picLocks noChangeAspect="1"/>
          </p:cNvPicPr>
          <p:nvPr/>
        </p:nvPicPr>
        <p:blipFill>
          <a:blip r:embed="rId2"/>
          <a:stretch>
            <a:fillRect/>
          </a:stretch>
        </p:blipFill>
        <p:spPr>
          <a:xfrm>
            <a:off x="8523122" y="1482242"/>
            <a:ext cx="281635" cy="281635"/>
          </a:xfrm>
          <a:prstGeom prst="rect">
            <a:avLst/>
          </a:prstGeom>
        </p:spPr>
      </p:pic>
      <p:sp>
        <p:nvSpPr>
          <p:cNvPr id="6" name="Text 2"/>
          <p:cNvSpPr txBox="1"/>
          <p:nvPr/>
        </p:nvSpPr>
        <p:spPr>
          <a:xfrm>
            <a:off x="9098280" y="13898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Layers</a:t>
            </a:r>
            <a:endParaRPr lang="en-US" sz="1600" dirty="0"/>
          </a:p>
        </p:txBody>
      </p:sp>
      <p:sp>
        <p:nvSpPr>
          <p:cNvPr id="7" name="Text 3"/>
          <p:cNvSpPr txBox="1"/>
          <p:nvPr/>
        </p:nvSpPr>
        <p:spPr>
          <a:xfrm>
            <a:off x="9098280" y="1783080"/>
            <a:ext cx="2560320" cy="10972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13 map surfaces: suitability, each sub-index, trip potential, robustness, service zones</a:t>
            </a:r>
            <a:endParaRPr lang="en-US" sz="1300" dirty="0"/>
          </a:p>
        </p:txBody>
      </p:sp>
      <p:sp>
        <p:nvSpPr>
          <p:cNvPr id="8" name="Shape 4"/>
          <p:cNvSpPr/>
          <p:nvPr/>
        </p:nvSpPr>
        <p:spPr>
          <a:xfrm>
            <a:off x="8412480" y="2971800"/>
            <a:ext cx="502920" cy="502920"/>
          </a:xfrm>
          <a:prstGeom prst="ellipse">
            <a:avLst/>
          </a:prstGeom>
          <a:solidFill>
            <a:srgbClr val="0B7A6F"/>
          </a:solidFill>
          <a:ln w="12700">
            <a:solidFill>
              <a:srgbClr val="0B7A6F"/>
            </a:solidFill>
            <a:prstDash val="solid"/>
          </a:ln>
        </p:spPr>
      </p:sp>
      <p:pic>
        <p:nvPicPr>
          <p:cNvPr id="9" name="Image 2" descr="preencoded.png">    </p:cNvPr>
          <p:cNvPicPr>
            <a:picLocks noChangeAspect="1"/>
          </p:cNvPicPr>
          <p:nvPr/>
        </p:nvPicPr>
        <p:blipFill>
          <a:blip r:embed="rId3"/>
          <a:stretch>
            <a:fillRect/>
          </a:stretch>
        </p:blipFill>
        <p:spPr>
          <a:xfrm>
            <a:off x="8523122" y="3082442"/>
            <a:ext cx="281635" cy="281635"/>
          </a:xfrm>
          <a:prstGeom prst="rect">
            <a:avLst/>
          </a:prstGeom>
        </p:spPr>
      </p:pic>
      <p:sp>
        <p:nvSpPr>
          <p:cNvPr id="10" name="Text 5"/>
          <p:cNvSpPr txBox="1"/>
          <p:nvPr/>
        </p:nvSpPr>
        <p:spPr>
          <a:xfrm>
            <a:off x="9098280" y="29900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Optimise</a:t>
            </a:r>
            <a:endParaRPr lang="en-US" sz="1600" dirty="0"/>
          </a:p>
        </p:txBody>
      </p:sp>
      <p:sp>
        <p:nvSpPr>
          <p:cNvPr id="11" name="Text 6"/>
          <p:cNvSpPr txBox="1"/>
          <p:nvPr/>
        </p:nvSpPr>
        <p:spPr>
          <a:xfrm>
            <a:off x="9098280" y="3383280"/>
            <a:ext cx="2560320" cy="10972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Change weights, hub count and adoption, then re-run hub placement in about 50 ms</a:t>
            </a:r>
            <a:endParaRPr lang="en-US" sz="1300" dirty="0"/>
          </a:p>
        </p:txBody>
      </p:sp>
      <p:sp>
        <p:nvSpPr>
          <p:cNvPr id="12" name="Shape 7"/>
          <p:cNvSpPr/>
          <p:nvPr/>
        </p:nvSpPr>
        <p:spPr>
          <a:xfrm>
            <a:off x="8412480" y="4572000"/>
            <a:ext cx="502920" cy="502920"/>
          </a:xfrm>
          <a:prstGeom prst="ellipse">
            <a:avLst/>
          </a:prstGeom>
          <a:solidFill>
            <a:srgbClr val="0B7A6F"/>
          </a:solidFill>
          <a:ln w="12700">
            <a:solidFill>
              <a:srgbClr val="0B7A6F"/>
            </a:solidFill>
            <a:prstDash val="solid"/>
          </a:ln>
        </p:spPr>
      </p:sp>
      <p:pic>
        <p:nvPicPr>
          <p:cNvPr id="13" name="Image 3" descr="preencoded.png">    </p:cNvPr>
          <p:cNvPicPr>
            <a:picLocks noChangeAspect="1"/>
          </p:cNvPicPr>
          <p:nvPr/>
        </p:nvPicPr>
        <p:blipFill>
          <a:blip r:embed="rId4"/>
          <a:stretch>
            <a:fillRect/>
          </a:stretch>
        </p:blipFill>
        <p:spPr>
          <a:xfrm>
            <a:off x="8523122" y="4682642"/>
            <a:ext cx="281635" cy="281635"/>
          </a:xfrm>
          <a:prstGeom prst="rect">
            <a:avLst/>
          </a:prstGeom>
        </p:spPr>
      </p:pic>
      <p:sp>
        <p:nvSpPr>
          <p:cNvPr id="14" name="Text 8"/>
          <p:cNvSpPr txBox="1"/>
          <p:nvPr/>
        </p:nvSpPr>
        <p:spPr>
          <a:xfrm>
            <a:off x="9098280" y="45902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Inspect</a:t>
            </a:r>
            <a:endParaRPr lang="en-US" sz="1600" dirty="0"/>
          </a:p>
        </p:txBody>
      </p:sp>
      <p:sp>
        <p:nvSpPr>
          <p:cNvPr id="15" name="Text 9"/>
          <p:cNvSpPr txBox="1"/>
          <p:nvPr/>
        </p:nvSpPr>
        <p:spPr>
          <a:xfrm>
            <a:off x="9098280" y="4983480"/>
            <a:ext cx="2560320" cy="10972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Click a cell, hub or station for scores, raw indicators and its serving hub</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User: journey planner method</a:t>
            </a:r>
            <a:endParaRPr lang="en-US" sz="3000" dirty="0"/>
          </a:p>
        </p:txBody>
      </p:sp>
      <p:pic>
        <p:nvPicPr>
          <p:cNvPr id="3" name="Image 0" descr="c_s_user.png">    </p:cNvPr>
          <p:cNvPicPr>
            <a:picLocks noChangeAspect="1"/>
          </p:cNvPicPr>
          <p:nvPr/>
        </p:nvPicPr>
        <p:blipFill>
          <a:blip r:embed="rId1"/>
          <a:stretch>
            <a:fillRect/>
          </a:stretch>
        </p:blipFill>
        <p:spPr>
          <a:xfrm>
            <a:off x="5120640" y="1826925"/>
            <a:ext cx="6537960" cy="3752789"/>
          </a:xfrm>
          <a:prstGeom prst="rect">
            <a:avLst/>
          </a:prstGeom>
        </p:spPr>
      </p:pic>
      <p:sp>
        <p:nvSpPr>
          <p:cNvPr id="4" name="Shape 1"/>
          <p:cNvSpPr/>
          <p:nvPr/>
        </p:nvSpPr>
        <p:spPr>
          <a:xfrm>
            <a:off x="548640" y="1371600"/>
            <a:ext cx="411480" cy="411480"/>
          </a:xfrm>
          <a:prstGeom prst="ellipse">
            <a:avLst/>
          </a:prstGeom>
          <a:solidFill>
            <a:srgbClr val="0B7A6F"/>
          </a:solidFill>
          <a:ln w="12700">
            <a:solidFill>
              <a:srgbClr val="0B7A6F"/>
            </a:solidFill>
            <a:prstDash val="solid"/>
          </a:ln>
        </p:spPr>
      </p:sp>
      <p:sp>
        <p:nvSpPr>
          <p:cNvPr id="5" name="Text 2"/>
          <p:cNvSpPr txBox="1"/>
          <p:nvPr/>
        </p:nvSpPr>
        <p:spPr>
          <a:xfrm>
            <a:off x="548640" y="13716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3"/>
          <p:cNvSpPr txBox="1"/>
          <p:nvPr/>
        </p:nvSpPr>
        <p:spPr>
          <a:xfrm>
            <a:off x="1097280" y="1353312"/>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Snap</a:t>
            </a:r>
            <a:endParaRPr lang="en-US" sz="1500" dirty="0"/>
          </a:p>
        </p:txBody>
      </p:sp>
      <p:sp>
        <p:nvSpPr>
          <p:cNvPr id="7" name="Text 4"/>
          <p:cNvSpPr txBox="1"/>
          <p:nvPr/>
        </p:nvSpPr>
        <p:spPr>
          <a:xfrm>
            <a:off x="1097280" y="1673352"/>
            <a:ext cx="384048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Start and destination snapped to the nearest road junction</a:t>
            </a:r>
            <a:endParaRPr lang="en-US" sz="1250" dirty="0"/>
          </a:p>
        </p:txBody>
      </p:sp>
      <p:sp>
        <p:nvSpPr>
          <p:cNvPr id="8" name="Shape 5"/>
          <p:cNvSpPr/>
          <p:nvPr/>
        </p:nvSpPr>
        <p:spPr>
          <a:xfrm>
            <a:off x="548640" y="2304288"/>
            <a:ext cx="411480" cy="411480"/>
          </a:xfrm>
          <a:prstGeom prst="ellipse">
            <a:avLst/>
          </a:prstGeom>
          <a:solidFill>
            <a:srgbClr val="0B7A6F"/>
          </a:solidFill>
          <a:ln w="12700">
            <a:solidFill>
              <a:srgbClr val="0B7A6F"/>
            </a:solidFill>
            <a:prstDash val="solid"/>
          </a:ln>
        </p:spPr>
      </p:sp>
      <p:sp>
        <p:nvSpPr>
          <p:cNvPr id="9" name="Text 6"/>
          <p:cNvSpPr txBox="1"/>
          <p:nvPr/>
        </p:nvSpPr>
        <p:spPr>
          <a:xfrm>
            <a:off x="548640" y="23042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7"/>
          <p:cNvSpPr txBox="1"/>
          <p:nvPr/>
        </p:nvSpPr>
        <p:spPr>
          <a:xfrm>
            <a:off x="1097280" y="2286000"/>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Find hubs</a:t>
            </a:r>
            <a:endParaRPr lang="en-US" sz="1500" dirty="0"/>
          </a:p>
        </p:txBody>
      </p:sp>
      <p:sp>
        <p:nvSpPr>
          <p:cNvPr id="11" name="Text 8"/>
          <p:cNvSpPr txBox="1"/>
          <p:nvPr/>
        </p:nvSpPr>
        <p:spPr>
          <a:xfrm>
            <a:off x="1097280" y="2606040"/>
            <a:ext cx="384048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Dijkstra on walking distance until the nearest hub is reached, at each end</a:t>
            </a:r>
            <a:endParaRPr lang="en-US" sz="1250" dirty="0"/>
          </a:p>
        </p:txBody>
      </p:sp>
      <p:sp>
        <p:nvSpPr>
          <p:cNvPr id="12" name="Shape 9"/>
          <p:cNvSpPr/>
          <p:nvPr/>
        </p:nvSpPr>
        <p:spPr>
          <a:xfrm>
            <a:off x="548640" y="3236976"/>
            <a:ext cx="411480" cy="411480"/>
          </a:xfrm>
          <a:prstGeom prst="ellipse">
            <a:avLst/>
          </a:prstGeom>
          <a:solidFill>
            <a:srgbClr val="0B7A6F"/>
          </a:solidFill>
          <a:ln w="12700">
            <a:solidFill>
              <a:srgbClr val="0B7A6F"/>
            </a:solidFill>
            <a:prstDash val="solid"/>
          </a:ln>
        </p:spPr>
      </p:sp>
      <p:sp>
        <p:nvSpPr>
          <p:cNvPr id="13" name="Text 10"/>
          <p:cNvSpPr txBox="1"/>
          <p:nvPr/>
        </p:nvSpPr>
        <p:spPr>
          <a:xfrm>
            <a:off x="548640" y="323697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097280" y="3218688"/>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Ride</a:t>
            </a:r>
            <a:endParaRPr lang="en-US" sz="1500" dirty="0"/>
          </a:p>
        </p:txBody>
      </p:sp>
      <p:sp>
        <p:nvSpPr>
          <p:cNvPr id="15" name="Text 12"/>
          <p:cNvSpPr txBox="1"/>
          <p:nvPr/>
        </p:nvSpPr>
        <p:spPr>
          <a:xfrm>
            <a:off x="1097280" y="3538728"/>
            <a:ext cx="384048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A* on the e-bike cost between the two hubs (calm-route slider)</a:t>
            </a:r>
            <a:endParaRPr lang="en-US" sz="1250" dirty="0"/>
          </a:p>
        </p:txBody>
      </p:sp>
      <p:sp>
        <p:nvSpPr>
          <p:cNvPr id="16" name="Shape 13"/>
          <p:cNvSpPr/>
          <p:nvPr/>
        </p:nvSpPr>
        <p:spPr>
          <a:xfrm>
            <a:off x="548640" y="4169664"/>
            <a:ext cx="411480" cy="411480"/>
          </a:xfrm>
          <a:prstGeom prst="ellipse">
            <a:avLst/>
          </a:prstGeom>
          <a:solidFill>
            <a:srgbClr val="0B7A6F"/>
          </a:solidFill>
          <a:ln w="12700">
            <a:solidFill>
              <a:srgbClr val="0B7A6F"/>
            </a:solidFill>
            <a:prstDash val="solid"/>
          </a:ln>
        </p:spPr>
      </p:sp>
      <p:sp>
        <p:nvSpPr>
          <p:cNvPr id="17" name="Text 14"/>
          <p:cNvSpPr txBox="1"/>
          <p:nvPr/>
        </p:nvSpPr>
        <p:spPr>
          <a:xfrm>
            <a:off x="548640" y="41696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5"/>
          <p:cNvSpPr txBox="1"/>
          <p:nvPr/>
        </p:nvSpPr>
        <p:spPr>
          <a:xfrm>
            <a:off x="1097280" y="4151376"/>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Compare</a:t>
            </a:r>
            <a:endParaRPr lang="en-US" sz="1500" dirty="0"/>
          </a:p>
        </p:txBody>
      </p:sp>
      <p:sp>
        <p:nvSpPr>
          <p:cNvPr id="19" name="Text 16"/>
          <p:cNvSpPr txBox="1"/>
          <p:nvPr/>
        </p:nvSpPr>
        <p:spPr>
          <a:xfrm>
            <a:off x="1097280" y="4471416"/>
            <a:ext cx="384048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Walk-only route and auto-rickshaw fare on the shortest road distance</a:t>
            </a:r>
            <a:endParaRPr lang="en-US" sz="1250" dirty="0"/>
          </a:p>
        </p:txBody>
      </p:sp>
      <p:sp>
        <p:nvSpPr>
          <p:cNvPr id="20" name="Shape 17"/>
          <p:cNvSpPr/>
          <p:nvPr/>
        </p:nvSpPr>
        <p:spPr>
          <a:xfrm>
            <a:off x="548640" y="5102352"/>
            <a:ext cx="411480" cy="411480"/>
          </a:xfrm>
          <a:prstGeom prst="ellipse">
            <a:avLst/>
          </a:prstGeom>
          <a:solidFill>
            <a:srgbClr val="0B7A6F"/>
          </a:solidFill>
          <a:ln w="12700">
            <a:solidFill>
              <a:srgbClr val="0B7A6F"/>
            </a:solidFill>
            <a:prstDash val="solid"/>
          </a:ln>
        </p:spPr>
      </p:sp>
      <p:sp>
        <p:nvSpPr>
          <p:cNvPr id="21" name="Text 18"/>
          <p:cNvSpPr txBox="1"/>
          <p:nvPr/>
        </p:nvSpPr>
        <p:spPr>
          <a:xfrm>
            <a:off x="548640" y="51023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19"/>
          <p:cNvSpPr txBox="1"/>
          <p:nvPr/>
        </p:nvSpPr>
        <p:spPr>
          <a:xfrm>
            <a:off x="1097280" y="5084064"/>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Price</a:t>
            </a:r>
            <a:endParaRPr lang="en-US" sz="1500" dirty="0"/>
          </a:p>
        </p:txBody>
      </p:sp>
      <p:sp>
        <p:nvSpPr>
          <p:cNvPr id="23" name="Text 20"/>
          <p:cNvSpPr txBox="1"/>
          <p:nvPr/>
        </p:nvSpPr>
        <p:spPr>
          <a:xfrm>
            <a:off x="1097280" y="5404104"/>
            <a:ext cx="384048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Fare = unlock + ₹/min × ride time; time = walks + 2 min + ride</a:t>
            </a:r>
            <a:endParaRPr lang="en-US" sz="1250" dirty="0"/>
          </a:p>
        </p:txBody>
      </p:sp>
      <p:sp>
        <p:nvSpPr>
          <p:cNvPr id="24" name="Text 21"/>
          <p:cNvSpPr txBox="1"/>
          <p:nvPr/>
        </p:nvSpPr>
        <p:spPr>
          <a:xfrm>
            <a:off x="5120640" y="5634579"/>
            <a:ext cx="6537960" cy="274320"/>
          </a:xfrm>
          <a:prstGeom prst="rect">
            <a:avLst/>
          </a:prstGeom>
          <a:noFill/>
          <a:ln/>
        </p:spPr>
        <p:txBody>
          <a:bodyPr wrap="square" lIns="0" tIns="0" rIns="0" bIns="0" rtlCol="0" anchor="t"/>
          <a:lstStyle/>
          <a:p>
            <a:pPr indent="0" marL="0">
              <a:buNone/>
            </a:pPr>
            <a:r>
              <a:rPr lang="en-US" sz="1100" dirty="0">
                <a:solidFill>
                  <a:srgbClr val="6B788B"/>
                </a:solidFill>
                <a:latin typeface="Calibri" pitchFamily="34" charset="0"/>
                <a:ea typeface="Calibri" pitchFamily="34" charset="-122"/>
                <a:cs typeface="Calibri" pitchFamily="34" charset="-120"/>
              </a:rPr>
              <a:t>Example: Karol Bagh → Connaught Place, ₹28, 45 min door to door, 2.2 km ride on 92 % low-stress roads.</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User: nearest facilities by road distance</a:t>
            </a:r>
            <a:endParaRPr lang="en-US" sz="3000" dirty="0"/>
          </a:p>
        </p:txBody>
      </p:sp>
      <p:pic>
        <p:nvPicPr>
          <p:cNvPr id="3" name="Image 0" descr="c_s_fac.png">    </p:cNvPr>
          <p:cNvPicPr>
            <a:picLocks noChangeAspect="1"/>
          </p:cNvPicPr>
          <p:nvPr/>
        </p:nvPicPr>
        <p:blipFill>
          <a:blip r:embed="rId1"/>
          <a:stretch>
            <a:fillRect/>
          </a:stretch>
        </p:blipFill>
        <p:spPr>
          <a:xfrm>
            <a:off x="548640" y="1299667"/>
            <a:ext cx="11064240" cy="3024226"/>
          </a:xfrm>
          <a:prstGeom prst="rect">
            <a:avLst/>
          </a:prstGeom>
        </p:spPr>
      </p:pic>
      <p:sp>
        <p:nvSpPr>
          <p:cNvPr id="4" name="Text 1"/>
          <p:cNvSpPr txBox="1"/>
          <p:nvPr/>
        </p:nvSpPr>
        <p:spPr>
          <a:xfrm>
            <a:off x="685800" y="4643933"/>
            <a:ext cx="53035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One walking Dijkstra from point A, out to 7 km</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Targets: hubs and cells holding a cluster of pharmacies, grocery stores, restaurants, hostels/PGs or any POIs</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Cluster size is a slider (minimum outlets in a cell)</a:t>
            </a:r>
            <a:endParaRPr lang="en-US" sz="1400" dirty="0"/>
          </a:p>
        </p:txBody>
      </p:sp>
      <p:sp>
        <p:nvSpPr>
          <p:cNvPr id="5" name="Text 2"/>
          <p:cNvSpPr txBox="1"/>
          <p:nvPr/>
        </p:nvSpPr>
        <p:spPr>
          <a:xfrm>
            <a:off x="6263640" y="4643933"/>
            <a:ext cx="53035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For each nearest facility: road distance, walk time, and e-bike time and fare when riding beats walking</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Route button draws the full journey on the map</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POIs are counted per cell, so a route ends at the road point nearest the cell centre</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Assumptions and limitations</a:t>
            </a:r>
            <a:endParaRPr lang="en-US" sz="3000" dirty="0"/>
          </a:p>
        </p:txBody>
      </p:sp>
      <p:sp>
        <p:nvSpPr>
          <p:cNvPr id="3" name="lim-0"/>
          <p:cNvSpPr/>
          <p:nvPr/>
        </p:nvSpPr>
        <p:spPr>
          <a:xfrm>
            <a:off x="548640" y="1371600"/>
            <a:ext cx="5440680" cy="1417320"/>
          </a:xfrm>
          <a:prstGeom prst="roundRect">
            <a:avLst>
              <a:gd name="adj" fmla="val 5161"/>
            </a:avLst>
          </a:prstGeom>
          <a:solidFill>
            <a:srgbClr val="EEF1F5"/>
          </a:solidFill>
          <a:ln w="12700">
            <a:solidFill>
              <a:srgbClr val="EEF1F5"/>
            </a:solidFill>
            <a:prstDash val="solid"/>
          </a:ln>
        </p:spPr>
      </p:sp>
      <p:sp>
        <p:nvSpPr>
          <p:cNvPr id="4" name="Text 2"/>
          <p:cNvSpPr txBox="1"/>
          <p:nvPr/>
        </p:nvSpPr>
        <p:spPr>
          <a:xfrm>
            <a:off x="822960" y="15361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Demand is estimated</a:t>
            </a:r>
            <a:endParaRPr lang="en-US" sz="1600" dirty="0"/>
          </a:p>
        </p:txBody>
      </p:sp>
      <p:sp>
        <p:nvSpPr>
          <p:cNvPr id="5" name="Text 3"/>
          <p:cNvSpPr txBox="1"/>
          <p:nvPr/>
        </p:nvSpPr>
        <p:spPr>
          <a:xfrm>
            <a:off x="822960" y="19202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Trip potential comes from population, trip rates and an adoption share. Replace it with operator trip logs when available.</a:t>
            </a:r>
            <a:endParaRPr lang="en-US" sz="1300" dirty="0"/>
          </a:p>
        </p:txBody>
      </p:sp>
      <p:sp>
        <p:nvSpPr>
          <p:cNvPr id="6" name="lim-1"/>
          <p:cNvSpPr/>
          <p:nvPr/>
        </p:nvSpPr>
        <p:spPr>
          <a:xfrm>
            <a:off x="6172200" y="1371600"/>
            <a:ext cx="5440680" cy="1417320"/>
          </a:xfrm>
          <a:prstGeom prst="roundRect">
            <a:avLst>
              <a:gd name="adj" fmla="val 5161"/>
            </a:avLst>
          </a:prstGeom>
          <a:solidFill>
            <a:srgbClr val="EEF1F5"/>
          </a:solidFill>
          <a:ln w="12700">
            <a:solidFill>
              <a:srgbClr val="EEF1F5"/>
            </a:solidFill>
            <a:prstDash val="solid"/>
          </a:ln>
        </p:spPr>
      </p:sp>
      <p:sp>
        <p:nvSpPr>
          <p:cNvPr id="7" name="Text 5"/>
          <p:cNvSpPr txBox="1"/>
          <p:nvPr/>
        </p:nvSpPr>
        <p:spPr>
          <a:xfrm>
            <a:off x="6446520" y="15361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Roads are two-way</a:t>
            </a:r>
            <a:endParaRPr lang="en-US" sz="1600" dirty="0"/>
          </a:p>
        </p:txBody>
      </p:sp>
      <p:sp>
        <p:nvSpPr>
          <p:cNvPr id="8" name="Text 6"/>
          <p:cNvSpPr txBox="1"/>
          <p:nvPr/>
        </p:nvSpPr>
        <p:spPr>
          <a:xfrm>
            <a:off x="6446520" y="19202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road file has no one-way or turn restrictions, so routes may use roads against their legal direction.</a:t>
            </a:r>
            <a:endParaRPr lang="en-US" sz="1300" dirty="0"/>
          </a:p>
        </p:txBody>
      </p:sp>
      <p:sp>
        <p:nvSpPr>
          <p:cNvPr id="9" name="lim-2"/>
          <p:cNvSpPr/>
          <p:nvPr/>
        </p:nvSpPr>
        <p:spPr>
          <a:xfrm>
            <a:off x="548640" y="2971800"/>
            <a:ext cx="5440680" cy="1417320"/>
          </a:xfrm>
          <a:prstGeom prst="roundRect">
            <a:avLst>
              <a:gd name="adj" fmla="val 5161"/>
            </a:avLst>
          </a:prstGeom>
          <a:solidFill>
            <a:srgbClr val="EEF1F5"/>
          </a:solidFill>
          <a:ln w="12700">
            <a:solidFill>
              <a:srgbClr val="EEF1F5"/>
            </a:solidFill>
            <a:prstDash val="solid"/>
          </a:ln>
        </p:spPr>
      </p:sp>
      <p:sp>
        <p:nvSpPr>
          <p:cNvPr id="10" name="Text 8"/>
          <p:cNvSpPr txBox="1"/>
          <p:nvPr/>
        </p:nvSpPr>
        <p:spPr>
          <a:xfrm>
            <a:off x="822960" y="31363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POIs by cell</a:t>
            </a:r>
            <a:endParaRPr lang="en-US" sz="1600" dirty="0"/>
          </a:p>
        </p:txBody>
      </p:sp>
      <p:sp>
        <p:nvSpPr>
          <p:cNvPr id="11" name="Text 9"/>
          <p:cNvSpPr txBox="1"/>
          <p:nvPr/>
        </p:nvSpPr>
        <p:spPr>
          <a:xfrm>
            <a:off x="822960" y="35204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Facilities are cell counts, not points; routes end at the road point nearest the cell centre.</a:t>
            </a:r>
            <a:endParaRPr lang="en-US" sz="1300" dirty="0"/>
          </a:p>
        </p:txBody>
      </p:sp>
      <p:sp>
        <p:nvSpPr>
          <p:cNvPr id="12" name="lim-3"/>
          <p:cNvSpPr/>
          <p:nvPr/>
        </p:nvSpPr>
        <p:spPr>
          <a:xfrm>
            <a:off x="6172200" y="2971800"/>
            <a:ext cx="5440680" cy="1417320"/>
          </a:xfrm>
          <a:prstGeom prst="roundRect">
            <a:avLst>
              <a:gd name="adj" fmla="val 5161"/>
            </a:avLst>
          </a:prstGeom>
          <a:solidFill>
            <a:srgbClr val="EEF1F5"/>
          </a:solidFill>
          <a:ln w="12700">
            <a:solidFill>
              <a:srgbClr val="EEF1F5"/>
            </a:solidFill>
            <a:prstDash val="solid"/>
          </a:ln>
        </p:spPr>
      </p:sp>
      <p:sp>
        <p:nvSpPr>
          <p:cNvPr id="13" name="Text 11"/>
          <p:cNvSpPr txBox="1"/>
          <p:nvPr/>
        </p:nvSpPr>
        <p:spPr>
          <a:xfrm>
            <a:off x="6446520" y="31363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Fares are illustrative</a:t>
            </a:r>
            <a:endParaRPr lang="en-US" sz="1600" dirty="0"/>
          </a:p>
        </p:txBody>
      </p:sp>
      <p:sp>
        <p:nvSpPr>
          <p:cNvPr id="14" name="Text 12"/>
          <p:cNvSpPr txBox="1"/>
          <p:nvPr/>
        </p:nvSpPr>
        <p:spPr>
          <a:xfrm>
            <a:off x="6446520" y="35204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E-bike and auto-rickshaw tariffs are editable planning values, not published prices.</a:t>
            </a:r>
            <a:endParaRPr lang="en-US" sz="1300" dirty="0"/>
          </a:p>
        </p:txBody>
      </p:sp>
      <p:sp>
        <p:nvSpPr>
          <p:cNvPr id="15" name="lim-4"/>
          <p:cNvSpPr/>
          <p:nvPr/>
        </p:nvSpPr>
        <p:spPr>
          <a:xfrm>
            <a:off x="548640" y="4572000"/>
            <a:ext cx="5440680" cy="1417320"/>
          </a:xfrm>
          <a:prstGeom prst="roundRect">
            <a:avLst>
              <a:gd name="adj" fmla="val 5161"/>
            </a:avLst>
          </a:prstGeom>
          <a:solidFill>
            <a:srgbClr val="EEF1F5"/>
          </a:solidFill>
          <a:ln w="12700">
            <a:solidFill>
              <a:srgbClr val="EEF1F5"/>
            </a:solidFill>
            <a:prstDash val="solid"/>
          </a:ln>
        </p:spPr>
      </p:sp>
      <p:sp>
        <p:nvSpPr>
          <p:cNvPr id="16" name="Text 14"/>
          <p:cNvSpPr txBox="1"/>
          <p:nvPr/>
        </p:nvSpPr>
        <p:spPr>
          <a:xfrm>
            <a:off x="822960" y="47365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Weights are judgement</a:t>
            </a:r>
            <a:endParaRPr lang="en-US" sz="1600" dirty="0"/>
          </a:p>
        </p:txBody>
      </p:sp>
      <p:sp>
        <p:nvSpPr>
          <p:cNvPr id="17" name="Text 15"/>
          <p:cNvSpPr txBox="1"/>
          <p:nvPr/>
        </p:nvSpPr>
        <p:spPr>
          <a:xfrm>
            <a:off x="822960" y="51206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Index weights are set by judgement; the scenario test shows which hubs do not depend on them.</a:t>
            </a:r>
            <a:endParaRPr lang="en-US" sz="1300" dirty="0"/>
          </a:p>
        </p:txBody>
      </p:sp>
      <p:sp>
        <p:nvSpPr>
          <p:cNvPr id="18" name="lim-5"/>
          <p:cNvSpPr/>
          <p:nvPr/>
        </p:nvSpPr>
        <p:spPr>
          <a:xfrm>
            <a:off x="6172200" y="4572000"/>
            <a:ext cx="5440680" cy="1417320"/>
          </a:xfrm>
          <a:prstGeom prst="roundRect">
            <a:avLst>
              <a:gd name="adj" fmla="val 5161"/>
            </a:avLst>
          </a:prstGeom>
          <a:solidFill>
            <a:srgbClr val="EEF1F5"/>
          </a:solidFill>
          <a:ln w="12700">
            <a:solidFill>
              <a:srgbClr val="EEF1F5"/>
            </a:solidFill>
            <a:prstDash val="solid"/>
          </a:ln>
        </p:spPr>
      </p:sp>
      <p:sp>
        <p:nvSpPr>
          <p:cNvPr id="19" name="Text 17"/>
          <p:cNvSpPr txBox="1"/>
          <p:nvPr/>
        </p:nvSpPr>
        <p:spPr>
          <a:xfrm>
            <a:off x="6446520" y="4736592"/>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124 cells off-network</a:t>
            </a:r>
            <a:endParaRPr lang="en-US" sz="1600" dirty="0"/>
          </a:p>
        </p:txBody>
      </p:sp>
      <p:sp>
        <p:nvSpPr>
          <p:cNvPr id="20" name="Text 18"/>
          <p:cNvSpPr txBox="1"/>
          <p:nvPr/>
        </p:nvSpPr>
        <p:spPr>
          <a:xfrm>
            <a:off x="6446520" y="5120640"/>
            <a:ext cx="493776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Cells more than 500 m from a road cannot be served by any hub.</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8B"/>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778240" cy="173736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Next steps</a:t>
            </a:r>
            <a:endParaRPr lang="en-US" sz="4400" dirty="0"/>
          </a:p>
        </p:txBody>
      </p:sp>
      <p:sp>
        <p:nvSpPr>
          <p:cNvPr id="3" name="Text 0"/>
          <p:cNvSpPr/>
          <p:nvPr>
            <p:ph idx="101" type="body" hasCustomPrompt="1"/>
          </p:nvPr>
        </p:nvSpPr>
        <p:spPr>
          <a:xfrm>
            <a:off x="640080" y="3886200"/>
            <a:ext cx="8778240" cy="1097280"/>
          </a:xfrm>
          <a:prstGeom prst="rect">
            <a:avLst/>
          </a:prstGeom>
          <a:noFill/>
          <a:ln/>
        </p:spPr>
        <p:txBody>
          <a:bodyPr wrap="square" rtlCol="0" anchor="t"/>
          <a:lstStyle/>
          <a:p>
            <a:pPr indent="0" marL="0">
              <a:buNone/>
            </a:pPr>
            <a:r>
              <a:rPr lang="en-US" sz="1800" dirty="0">
                <a:solidFill>
                  <a:srgbClr val="C9D2DC"/>
                </a:solidFill>
                <a:latin typeface="Calibri" pitchFamily="34" charset="0"/>
                <a:ea typeface="Calibri" pitchFamily="34" charset="-122"/>
                <a:cs typeface="Calibri" pitchFamily="34" charset="-120"/>
              </a:rPr>
              <a:t>Calibrate demand with real trips, add one-way rules and point POIs, then pilot the robust hubs</a:t>
            </a:r>
            <a:endParaRPr lang="en-US" sz="1800" dirty="0"/>
          </a:p>
        </p:txBody>
      </p:sp>
      <p:sp>
        <p:nvSpPr>
          <p:cNvPr id="4" name="Text 2"/>
          <p:cNvSpPr txBox="1"/>
          <p:nvPr/>
        </p:nvSpPr>
        <p:spPr>
          <a:xfrm>
            <a:off x="640080" y="5257800"/>
            <a:ext cx="3474720" cy="365760"/>
          </a:xfrm>
          <a:prstGeom prst="rect">
            <a:avLst/>
          </a:prstGeom>
          <a:noFill/>
          <a:ln/>
        </p:spPr>
        <p:txBody>
          <a:bodyPr wrap="square" lIns="0" tIns="0" rIns="0" bIns="0" rtlCol="0" anchor="t"/>
          <a:lstStyle/>
          <a:p>
            <a:pPr indent="0" marL="0">
              <a:buNone/>
            </a:pPr>
            <a:r>
              <a:rPr lang="en-US" sz="1600" b="1" dirty="0">
                <a:solidFill>
                  <a:srgbClr val="BFE3DD"/>
                </a:solidFill>
                <a:latin typeface="Calibri" pitchFamily="34" charset="0"/>
                <a:ea typeface="Calibri" pitchFamily="34" charset="-122"/>
                <a:cs typeface="Calibri" pitchFamily="34" charset="-120"/>
              </a:rPr>
              <a:t>Calibrate</a:t>
            </a:r>
            <a:endParaRPr lang="en-US" sz="1600" dirty="0"/>
          </a:p>
        </p:txBody>
      </p:sp>
      <p:sp>
        <p:nvSpPr>
          <p:cNvPr id="5" name="Text 3"/>
          <p:cNvSpPr txBox="1"/>
          <p:nvPr/>
        </p:nvSpPr>
        <p:spPr>
          <a:xfrm>
            <a:off x="640080" y="5623560"/>
            <a:ext cx="3474720" cy="73152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Replace estimated trips with operator logs and re-run the optimiser</a:t>
            </a:r>
            <a:endParaRPr lang="en-US" sz="1300" dirty="0"/>
          </a:p>
        </p:txBody>
      </p:sp>
      <p:sp>
        <p:nvSpPr>
          <p:cNvPr id="6" name="Text 4"/>
          <p:cNvSpPr txBox="1"/>
          <p:nvPr/>
        </p:nvSpPr>
        <p:spPr>
          <a:xfrm>
            <a:off x="4389120" y="5257800"/>
            <a:ext cx="3474720" cy="365760"/>
          </a:xfrm>
          <a:prstGeom prst="rect">
            <a:avLst/>
          </a:prstGeom>
          <a:noFill/>
          <a:ln/>
        </p:spPr>
        <p:txBody>
          <a:bodyPr wrap="square" lIns="0" tIns="0" rIns="0" bIns="0" rtlCol="0" anchor="t"/>
          <a:lstStyle/>
          <a:p>
            <a:pPr indent="0" marL="0">
              <a:buNone/>
            </a:pPr>
            <a:r>
              <a:rPr lang="en-US" sz="1600" b="1" dirty="0">
                <a:solidFill>
                  <a:srgbClr val="BFE3DD"/>
                </a:solidFill>
                <a:latin typeface="Calibri" pitchFamily="34" charset="0"/>
                <a:ea typeface="Calibri" pitchFamily="34" charset="-122"/>
                <a:cs typeface="Calibri" pitchFamily="34" charset="-120"/>
              </a:rPr>
              <a:t>Refine the network</a:t>
            </a:r>
            <a:endParaRPr lang="en-US" sz="1600" dirty="0"/>
          </a:p>
        </p:txBody>
      </p:sp>
      <p:sp>
        <p:nvSpPr>
          <p:cNvPr id="7" name="Text 5"/>
          <p:cNvSpPr txBox="1"/>
          <p:nvPr/>
        </p:nvSpPr>
        <p:spPr>
          <a:xfrm>
            <a:off x="4389120" y="5623560"/>
            <a:ext cx="3474720" cy="73152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Add one-way and turn rules from OSM; point-level POIs</a:t>
            </a:r>
            <a:endParaRPr lang="en-US" sz="1300" dirty="0"/>
          </a:p>
        </p:txBody>
      </p:sp>
      <p:sp>
        <p:nvSpPr>
          <p:cNvPr id="8" name="Text 6"/>
          <p:cNvSpPr txBox="1"/>
          <p:nvPr/>
        </p:nvSpPr>
        <p:spPr>
          <a:xfrm>
            <a:off x="8138160" y="5257800"/>
            <a:ext cx="3474720" cy="365760"/>
          </a:xfrm>
          <a:prstGeom prst="rect">
            <a:avLst/>
          </a:prstGeom>
          <a:noFill/>
          <a:ln/>
        </p:spPr>
        <p:txBody>
          <a:bodyPr wrap="square" lIns="0" tIns="0" rIns="0" bIns="0" rtlCol="0" anchor="t"/>
          <a:lstStyle/>
          <a:p>
            <a:pPr indent="0" marL="0">
              <a:buNone/>
            </a:pPr>
            <a:r>
              <a:rPr lang="en-US" sz="1600" b="1" dirty="0">
                <a:solidFill>
                  <a:srgbClr val="BFE3DD"/>
                </a:solidFill>
                <a:latin typeface="Calibri" pitchFamily="34" charset="0"/>
                <a:ea typeface="Calibri" pitchFamily="34" charset="-122"/>
                <a:cs typeface="Calibri" pitchFamily="34" charset="-120"/>
              </a:rPr>
              <a:t>Pilot</a:t>
            </a:r>
            <a:endParaRPr lang="en-US" sz="1600" dirty="0"/>
          </a:p>
        </p:txBody>
      </p:sp>
      <p:sp>
        <p:nvSpPr>
          <p:cNvPr id="9" name="Text 7"/>
          <p:cNvSpPr txBox="1"/>
          <p:nvPr/>
        </p:nvSpPr>
        <p:spPr>
          <a:xfrm>
            <a:off x="8138160" y="5623560"/>
            <a:ext cx="3474720" cy="73152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Open the 142 robust hubs in phases with their swap stations</a:t>
            </a:r>
            <a:endParaRPr lang="en-US" sz="1300" dirty="0"/>
          </a:p>
        </p:txBody>
      </p:sp>
    </p:spTree>
  </p:cSld>
  <p:clrMapOvr>
    <a:masterClrMapping/>
  </p:clrMapOvr>
</p:sld>
</file>

<file path=ppt/theme/theme1.xml><?xml version="1.0" encoding="utf-8"?>
<a:theme xmlns:a="http://schemas.openxmlformats.org/drawingml/2006/main" name="Delhi Micromobility">
  <a:themeElements>
    <a:clrScheme name="Delhi Micromobility">
      <a:dk1>
        <a:srgbClr val="10233F"/>
      </a:dk1>
      <a:lt1>
        <a:srgbClr val="FFFFFF"/>
      </a:lt1>
      <a:dk2>
        <a:srgbClr val="44536A"/>
      </a:dk2>
      <a:lt2>
        <a:srgbClr val="EEF1F5"/>
      </a:lt2>
      <a:accent1>
        <a:srgbClr val="0B7A6F"/>
      </a:accent1>
      <a:accent2>
        <a:srgbClr val="EB6834"/>
      </a:accent2>
      <a:accent3>
        <a:srgbClr val="2A78D6"/>
      </a:accent3>
      <a:accent4>
        <a:srgbClr val="D55181"/>
      </a:accent4>
      <a:accent5>
        <a:srgbClr val="1BAF7A"/>
      </a:accent5>
      <a:accent6>
        <a:srgbClr val="D03B3B"/>
      </a:accent6>
      <a:hlink>
        <a:srgbClr val="0B7A6F"/>
      </a:hlink>
      <a:folHlink>
        <a:srgbClr val="44536A"/>
      </a:folHlink>
    </a:clrScheme>
    <a:fontScheme name="Delhi Micromobi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Delhi E-Micromobility Planner: Methodology</dc:title>
  <dc:subject>PptxGenJS Presentation</dc:subject>
  <dc:creator>Network Planning Programme</dc:creator>
  <cp:lastModifiedBy>Network Planning Programme</cp:lastModifiedBy>
  <cp:revision>1</cp:revision>
  <dcterms:created xsi:type="dcterms:W3CDTF">2026-10-10T18:25:17Z</dcterms:created>
  <dcterms:modified xsi:type="dcterms:W3CDTF">2026-10-10T18:25:17Z</dcterms:modified>
</cp:coreProperties>
</file>